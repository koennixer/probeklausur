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4"/>
  </p:sldMasterIdLst>
  <p:notesMasterIdLst>
    <p:notesMasterId r:id="rId21"/>
  </p:notesMasterIdLst>
  <p:handoutMasterIdLst>
    <p:handoutMasterId r:id="rId22"/>
  </p:handoutMasterIdLst>
  <p:sldIdLst>
    <p:sldId id="1041" r:id="rId5"/>
    <p:sldId id="1043" r:id="rId6"/>
    <p:sldId id="1044" r:id="rId7"/>
    <p:sldId id="1045" r:id="rId8"/>
    <p:sldId id="1046" r:id="rId9"/>
    <p:sldId id="1047" r:id="rId10"/>
    <p:sldId id="1050" r:id="rId11"/>
    <p:sldId id="1051" r:id="rId12"/>
    <p:sldId id="1052" r:id="rId13"/>
    <p:sldId id="1053" r:id="rId14"/>
    <p:sldId id="1054" r:id="rId15"/>
    <p:sldId id="1055" r:id="rId16"/>
    <p:sldId id="1056" r:id="rId17"/>
    <p:sldId id="1057" r:id="rId18"/>
    <p:sldId id="1058" r:id="rId19"/>
    <p:sldId id="1059" r:id="rId20"/>
  </p:sldIdLst>
  <p:sldSz cx="12192000" cy="6858000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0CC2B19-0152-48C4-9776-5E1C93263B9D}">
          <p14:sldIdLst>
            <p14:sldId id="1041"/>
            <p14:sldId id="1043"/>
            <p14:sldId id="1044"/>
            <p14:sldId id="1045"/>
            <p14:sldId id="1046"/>
            <p14:sldId id="1047"/>
            <p14:sldId id="1050"/>
            <p14:sldId id="1051"/>
            <p14:sldId id="1052"/>
            <p14:sldId id="1053"/>
            <p14:sldId id="1054"/>
            <p14:sldId id="1055"/>
            <p14:sldId id="1056"/>
            <p14:sldId id="1057"/>
            <p14:sldId id="1058"/>
            <p14:sldId id="1059"/>
          </p14:sldIdLst>
        </p14:section>
        <p14:section name="Standardabschnitt" id="{43259912-C5ED-4E84-8ACD-EEBCC30AE9A6}">
          <p14:sldIdLst/>
        </p14:section>
        <p14:section name="Standardabschnitt" id="{5377919E-FBA0-4639-A934-3356EF227BF9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A682"/>
    <a:srgbClr val="19AB73"/>
    <a:srgbClr val="C38ADC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EA013C-0C4C-7CC9-3073-C215768A4D35}" v="422" dt="2026-02-08T21:59:01.042"/>
    <p1510:client id="{CF275D93-1AF9-5CD7-90BA-CB7126BBAC7F}" v="405" dt="2026-02-08T23:32:48.353"/>
    <p1510:client id="{D9D7A87D-DE7C-D9BF-B02E-6FFACE30470C}" v="1" dt="2026-02-08T22:04:55.1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Gitternetz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Keine Formatvorlage, Tabellengitternetz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32"/>
    <p:restoredTop sz="94651"/>
  </p:normalViewPr>
  <p:slideViewPr>
    <p:cSldViewPr snapToGrid="0">
      <p:cViewPr varScale="1">
        <p:scale>
          <a:sx n="55" d="100"/>
          <a:sy n="55" d="100"/>
        </p:scale>
        <p:origin x="960" y="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99C6125-75A0-455B-936B-E52DC9776EFC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04492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35D100B-8FB0-4F45-A8C0-3F8C65FEE5C2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445757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5D100B-8FB0-4F45-A8C0-3F8C65FEE5C2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0587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5" name="Rectangle 9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0000" y="6172200"/>
            <a:ext cx="10580400" cy="2540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600" b="1"/>
            </a:lvl1pPr>
          </a:lstStyle>
          <a:p>
            <a:fld id="{30B1EE28-4F67-4416-A18C-74FB63371EF5}" type="datetime1">
              <a:rPr lang="de-DE"/>
              <a:pPr/>
              <a:t>08.02.2026</a:t>
            </a:fld>
            <a:r>
              <a:rPr lang="de-DE"/>
              <a:t>, Verfasser [optional] / 16 pt / Zeilenabstand 1-fach</a:t>
            </a:r>
          </a:p>
        </p:txBody>
      </p:sp>
      <p:sp>
        <p:nvSpPr>
          <p:cNvPr id="4109" name="Line 13"/>
          <p:cNvSpPr>
            <a:spLocks noChangeShapeType="1"/>
          </p:cNvSpPr>
          <p:nvPr/>
        </p:nvSpPr>
        <p:spPr bwMode="auto">
          <a:xfrm>
            <a:off x="810000" y="1258888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4113" name="Rectangle 17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406265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2400"/>
            </a:lvl1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116" name="Rectangle 2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72014"/>
            <a:ext cx="10580400" cy="427037"/>
          </a:xfr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4141" name="Rectangle 4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04001" y="927101"/>
            <a:ext cx="7286400" cy="184666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 sz="1200" b="1">
                <a:solidFill>
                  <a:schemeClr val="tx2"/>
                </a:solidFill>
              </a:defRPr>
            </a:lvl1pPr>
          </a:lstStyle>
          <a:p>
            <a:r>
              <a:rPr lang="de-DE"/>
              <a:t>&lt;Fachbereich/Institut/Lehrstuhl/Dezernatsabteilung&gt;</a:t>
            </a:r>
          </a:p>
        </p:txBody>
      </p:sp>
      <p:pic>
        <p:nvPicPr>
          <p:cNvPr id="11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358775"/>
            <a:ext cx="2806700" cy="721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46" descr="7mathnat">
            <a:extLst>
              <a:ext uri="{FF2B5EF4-FFF2-40B4-BE49-F238E27FC236}">
                <a16:creationId xmlns:a16="http://schemas.microsoft.com/office/drawing/2014/main" id="{9116EF16-B5B3-4280-87B8-8025F2DB605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9485" y="371475"/>
            <a:ext cx="4191000" cy="46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91868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403906"/>
            <a:ext cx="10580400" cy="4718866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121200" y="284400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3200"/>
            <a:ext cx="10580400" cy="5000400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3557808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121200" y="282714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4745"/>
            <a:ext cx="10580400" cy="5001419"/>
          </a:xfrm>
        </p:spPr>
        <p:txBody>
          <a:bodyPr/>
          <a:lstStyle>
            <a:lvl1pPr marL="180975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/>
            </a:lvl1pPr>
            <a:lvl2pPr marL="541338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FontTx/>
              <a:buChar char="-"/>
              <a:tabLst/>
              <a:defRPr/>
            </a:lvl2pPr>
            <a:lvl3pPr marL="895350" marR="0" indent="-17462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Wingdings" pitchFamily="2" charset="2"/>
              <a:buChar char="§"/>
              <a:tabLst/>
              <a:defRPr/>
            </a:lvl3pPr>
            <a:lvl4pPr marL="1260475" marR="0" indent="-185738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 sz="1400"/>
            </a:lvl4pPr>
            <a:lvl5pPr marL="1622425" marR="0" indent="-182563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-"/>
              <a:tabLst/>
              <a:defRPr lang="de-DE" sz="2000" dirty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marL="0" lvl="4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80400" algn="r"/>
              </a:tabLst>
            </a:pPr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4111450733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4406900"/>
            <a:ext cx="10580400" cy="1231106"/>
          </a:xfrm>
        </p:spPr>
        <p:txBody>
          <a:bodyPr anchor="t"/>
          <a:lstStyle>
            <a:lvl1pPr algn="l">
              <a:defRPr sz="4000" b="1" cap="small" baseline="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2906713"/>
            <a:ext cx="10580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10000" y="1773239"/>
            <a:ext cx="5184400" cy="4352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1" y="1773239"/>
            <a:ext cx="5192799" cy="4352925"/>
          </a:xfrm>
        </p:spPr>
        <p:txBody>
          <a:bodyPr/>
          <a:lstStyle>
            <a:lvl1pPr>
              <a:buClr>
                <a:schemeClr val="tx1"/>
              </a:buClr>
              <a:defRPr sz="2800"/>
            </a:lvl1pPr>
            <a:lvl2pPr>
              <a:buClr>
                <a:schemeClr val="tx1"/>
              </a:buClr>
              <a:defRPr sz="2400"/>
            </a:lvl2pPr>
            <a:lvl3pPr>
              <a:buClr>
                <a:schemeClr val="tx1"/>
              </a:buClr>
              <a:defRPr sz="2000"/>
            </a:lvl3pPr>
            <a:lvl4pPr>
              <a:buClr>
                <a:schemeClr val="tx1"/>
              </a:buClr>
              <a:defRPr sz="1800"/>
            </a:lvl4pPr>
            <a:lvl5pPr>
              <a:buClr>
                <a:schemeClr val="tx1"/>
              </a:buCl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104830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1535113"/>
            <a:ext cx="51865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10000" y="2174875"/>
            <a:ext cx="51865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19703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19703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09999" y="819547"/>
            <a:ext cx="3810685" cy="615553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766733" y="819547"/>
            <a:ext cx="6585851" cy="530661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09999" y="1435101"/>
            <a:ext cx="381068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908719"/>
            <a:ext cx="7315200" cy="381885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10651736" y="1292225"/>
            <a:ext cx="738664" cy="48339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10000" y="1292225"/>
            <a:ext cx="9606480" cy="4833938"/>
          </a:xfrm>
        </p:spPr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Line 8"/>
          <p:cNvSpPr>
            <a:spLocks noChangeShapeType="1"/>
          </p:cNvSpPr>
          <p:nvPr/>
        </p:nvSpPr>
        <p:spPr bwMode="auto">
          <a:xfrm>
            <a:off x="810000" y="809625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86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810000" y="1288019"/>
            <a:ext cx="105804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de-DE"/>
              <a:t>Titelmasterformat durch Klicken bearbeiten</a:t>
            </a:r>
          </a:p>
        </p:txBody>
      </p:sp>
      <p:sp>
        <p:nvSpPr>
          <p:cNvPr id="3089" name="Line 17"/>
          <p:cNvSpPr>
            <a:spLocks noChangeShapeType="1"/>
          </p:cNvSpPr>
          <p:nvPr userDrawn="1"/>
        </p:nvSpPr>
        <p:spPr bwMode="auto">
          <a:xfrm>
            <a:off x="810000" y="6315075"/>
            <a:ext cx="105804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95" name="Rectangle 23"/>
          <p:cNvSpPr>
            <a:spLocks noGrp="1" noChangeArrowheads="1"/>
          </p:cNvSpPr>
          <p:nvPr>
            <p:ph type="body" idx="1"/>
          </p:nvPr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810000" y="6518375"/>
            <a:ext cx="1058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defTabSz="3587750" rtl="0" fontAlgn="base">
              <a:spcBef>
                <a:spcPct val="0"/>
              </a:spcBef>
              <a:spcAft>
                <a:spcPct val="0"/>
              </a:spcAft>
              <a:tabLst>
                <a:tab pos="10763250" algn="r"/>
              </a:tabLst>
            </a:pPr>
            <a:fld id="{23E27E3F-4BCF-444A-932B-61F1B2DC888B}" type="slidenum">
              <a:rPr lang="de-DE" sz="1000" kern="1200" smtClean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pPr algn="l" defTabSz="3587750" rtl="0" fontAlgn="base">
                <a:spcBef>
                  <a:spcPct val="0"/>
                </a:spcBef>
                <a:spcAft>
                  <a:spcPct val="0"/>
                </a:spcAft>
                <a:tabLst>
                  <a:tab pos="10763250" algn="r"/>
                </a:tabLst>
              </a:pPr>
              <a:t>‹#›</a:t>
            </a:fld>
            <a:r>
              <a:rPr lang="de-DE"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| Technische Informatik 1: Digitaltechnik	© 2023 Universität Tübingen</a:t>
            </a:r>
          </a:p>
        </p:txBody>
      </p:sp>
      <p:pic>
        <p:nvPicPr>
          <p:cNvPr id="9" name="Grafik 10"/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175569"/>
            <a:ext cx="1794089" cy="4610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61" r:id="rId3"/>
    <p:sldLayoutId id="2147483663" r:id="rId4"/>
    <p:sldLayoutId id="2147483662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9pPr>
    </p:titleStyle>
    <p:bodyStyle>
      <a:lvl1pPr marL="180975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541338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SzPct val="80000"/>
        <a:buChar char="-"/>
        <a:defRPr sz="2000">
          <a:solidFill>
            <a:schemeClr val="tx1"/>
          </a:solidFill>
          <a:latin typeface="+mn-lt"/>
        </a:defRPr>
      </a:lvl2pPr>
      <a:lvl3pPr marL="895350" indent="-17462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3pPr>
      <a:lvl4pPr marL="1260475" indent="-185738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1400">
          <a:solidFill>
            <a:schemeClr val="tx1"/>
          </a:solidFill>
          <a:latin typeface="+mn-lt"/>
        </a:defRPr>
      </a:lvl4pPr>
      <a:lvl5pPr marL="0" indent="0" algn="l" rtl="0" eaLnBrk="1" fontAlgn="base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1"/>
        </a:buClr>
        <a:buFontTx/>
        <a:buNone/>
        <a:tabLst>
          <a:tab pos="5292000" algn="ctr"/>
          <a:tab pos="10512000" algn="r"/>
        </a:tabLst>
        <a:defRPr sz="2000">
          <a:solidFill>
            <a:schemeClr val="tx1"/>
          </a:solidFill>
          <a:latin typeface="+mn-lt"/>
        </a:defRPr>
      </a:lvl5pPr>
      <a:lvl6pPr marL="20796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6pPr>
      <a:lvl7pPr marL="25368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7pPr>
      <a:lvl8pPr marL="29940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8pPr>
      <a:lvl9pPr marL="34512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9"/>
          <p:cNvSpPr>
            <a:spLocks noGrp="1" noChangeArrowheads="1"/>
          </p:cNvSpPr>
          <p:nvPr>
            <p:ph type="dt" sz="half" idx="2"/>
          </p:nvPr>
        </p:nvSpPr>
        <p:spPr>
          <a:ln/>
        </p:spPr>
        <p:txBody>
          <a:bodyPr/>
          <a:lstStyle/>
          <a:p>
            <a:r>
              <a:rPr lang="de-DE" dirty="0"/>
              <a:t>11.02.2026, Prof. Dr. Oliver Bringmann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374718"/>
          </a:xfrm>
        </p:spPr>
        <p:txBody>
          <a:bodyPr/>
          <a:lstStyle/>
          <a:p>
            <a:r>
              <a:rPr lang="de-DE" dirty="0"/>
              <a:t>Probeklausur</a:t>
            </a:r>
          </a:p>
        </p:txBody>
      </p:sp>
      <p:sp>
        <p:nvSpPr>
          <p:cNvPr id="5130" name="Rectangle 1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45657"/>
            <a:ext cx="10580400" cy="453394"/>
          </a:xfrm>
        </p:spPr>
        <p:txBody>
          <a:bodyPr/>
          <a:lstStyle/>
          <a:p>
            <a:pPr>
              <a:lnSpc>
                <a:spcPct val="115000"/>
              </a:lnSpc>
              <a:spcBef>
                <a:spcPct val="25000"/>
              </a:spcBef>
            </a:pPr>
            <a:r>
              <a:rPr lang="en-US" dirty="0"/>
              <a:t>T</a:t>
            </a:r>
            <a:r>
              <a:rPr lang="de-DE" dirty="0"/>
              <a:t>echnische Informatik 1</a:t>
            </a:r>
          </a:p>
        </p:txBody>
      </p:sp>
      <p:sp>
        <p:nvSpPr>
          <p:cNvPr id="9" name="Rectangle 45"/>
          <p:cNvSpPr>
            <a:spLocks noGrp="1" noChangeArrowheads="1"/>
          </p:cNvSpPr>
          <p:nvPr>
            <p:ph type="ftr" sz="quarter" idx="3"/>
          </p:nvPr>
        </p:nvSpPr>
        <p:spPr>
          <a:ln/>
        </p:spPr>
        <p:txBody>
          <a:bodyPr/>
          <a:lstStyle/>
          <a:p>
            <a:r>
              <a:rPr lang="de-DE"/>
              <a:t>Eingebettete Systeme</a:t>
            </a: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4FA8B695-2367-4027-8967-B03690F27B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000" y="3681414"/>
            <a:ext cx="10580400" cy="179387"/>
          </a:xfrm>
          <a:prstGeom prst="rect">
            <a:avLst/>
          </a:prstGeom>
          <a:solidFill>
            <a:schemeClr val="folHlink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de-DE"/>
          </a:p>
        </p:txBody>
      </p:sp>
      <p:pic>
        <p:nvPicPr>
          <p:cNvPr id="11" name="Bildplatzhalter 1">
            <a:extLst>
              <a:ext uri="{FF2B5EF4-FFF2-40B4-BE49-F238E27FC236}">
                <a16:creationId xmlns:a16="http://schemas.microsoft.com/office/drawing/2014/main" id="{71791FAB-6120-49AF-9B4E-4E676AE40D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61" b="6061"/>
          <a:stretch>
            <a:fillRect/>
          </a:stretch>
        </p:blipFill>
        <p:spPr>
          <a:xfrm>
            <a:off x="810000" y="1451410"/>
            <a:ext cx="7610962" cy="2230004"/>
          </a:xfrm>
          <a:prstGeom prst="rect">
            <a:avLst/>
          </a:prstGeom>
        </p:spPr>
      </p:pic>
      <p:pic>
        <p:nvPicPr>
          <p:cNvPr id="12" name="Picture 4" descr="http://www.intel.com/pressroom/images/processors/itanium/9300/TukwilaGlamour.jpg">
            <a:extLst>
              <a:ext uri="{FF2B5EF4-FFF2-40B4-BE49-F238E27FC236}">
                <a16:creationId xmlns:a16="http://schemas.microsoft.com/office/drawing/2014/main" id="{0E34FF33-25A5-45DB-8EA9-219CD00B9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12379" y="1461444"/>
            <a:ext cx="3333287" cy="2221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http://upload.wikimedia.org/wikipedia/commons/a/a6/Leaflabs_Maple_OSHW_with_STM32F103RBT6_MCU.jpg">
            <a:extLst>
              <a:ext uri="{FF2B5EF4-FFF2-40B4-BE49-F238E27FC236}">
                <a16:creationId xmlns:a16="http://schemas.microsoft.com/office/drawing/2014/main" id="{635EA845-8318-46FE-8BDF-19C686E69E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46" t="23561" r="21055" b="23561"/>
          <a:stretch/>
        </p:blipFill>
        <p:spPr bwMode="auto">
          <a:xfrm flipH="1">
            <a:off x="3402513" y="1461444"/>
            <a:ext cx="2509865" cy="2221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1278638-B331-42FA-A0FB-9D3F44D564D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5533"/>
          <a:stretch/>
        </p:blipFill>
        <p:spPr>
          <a:xfrm flipH="1">
            <a:off x="8956912" y="1461444"/>
            <a:ext cx="2433487" cy="2221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54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D745B-E118-DF90-1A6B-73549ADF1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1.1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F89A3222-6D0A-B583-3338-83DC8C4B38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760966"/>
              </p:ext>
            </p:extLst>
          </p:nvPr>
        </p:nvGraphicFramePr>
        <p:xfrm>
          <a:off x="809625" y="1773237"/>
          <a:ext cx="10580685" cy="2889554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02204">
                  <a:extLst>
                    <a:ext uri="{9D8B030D-6E8A-4147-A177-3AD203B41FA5}">
                      <a16:colId xmlns:a16="http://schemas.microsoft.com/office/drawing/2014/main" val="77739209"/>
                    </a:ext>
                  </a:extLst>
                </a:gridCol>
                <a:gridCol w="2449285">
                  <a:extLst>
                    <a:ext uri="{9D8B030D-6E8A-4147-A177-3AD203B41FA5}">
                      <a16:colId xmlns:a16="http://schemas.microsoft.com/office/drawing/2014/main" val="3652360773"/>
                    </a:ext>
                  </a:extLst>
                </a:gridCol>
                <a:gridCol w="2046515">
                  <a:extLst>
                    <a:ext uri="{9D8B030D-6E8A-4147-A177-3AD203B41FA5}">
                      <a16:colId xmlns:a16="http://schemas.microsoft.com/office/drawing/2014/main" val="3975084939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3336663794"/>
                    </a:ext>
                  </a:extLst>
                </a:gridCol>
                <a:gridCol w="2464024">
                  <a:extLst>
                    <a:ext uri="{9D8B030D-6E8A-4147-A177-3AD203B41FA5}">
                      <a16:colId xmlns:a16="http://schemas.microsoft.com/office/drawing/2014/main" val="2948349838"/>
                    </a:ext>
                  </a:extLst>
                </a:gridCol>
              </a:tblGrid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Einerkomplement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Zweierkomplement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8009295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100101 = 32 + 4 + 1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702699"/>
                  </a:ext>
                </a:extLst>
              </a:tr>
              <a:tr h="1042036">
                <a:tc>
                  <a:txBody>
                    <a:bodyPr/>
                    <a:lstStyle/>
                    <a:p>
                      <a:r>
                        <a:rPr lang="de-DE" dirty="0"/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-1 x 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111110, da 000001 =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111111 = -32 + 16 + 8 + 6 + 4 + 2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527027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10000, da 011111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-32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6399044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7E33D22C-6212-FDEF-4425-51F6F27B5241}"/>
              </a:ext>
            </a:extLst>
          </p:cNvPr>
          <p:cNvSpPr txBox="1"/>
          <p:nvPr/>
        </p:nvSpPr>
        <p:spPr>
          <a:xfrm>
            <a:off x="809625" y="5050971"/>
            <a:ext cx="104353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de-DE" dirty="0"/>
              <a:t>Denkt an den Betrag, den man maximal darstellen kann.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Einerkomplement bildet man einfach über das Komplement der positiven Zahl.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Ihr müsst das Zweierkomplement bilden und damit rechnen können.</a:t>
            </a:r>
          </a:p>
        </p:txBody>
      </p:sp>
    </p:spTree>
    <p:extLst>
      <p:ext uri="{BB962C8B-B14F-4D97-AF65-F5344CB8AC3E}">
        <p14:creationId xmlns:p14="http://schemas.microsoft.com/office/powerpoint/2010/main" val="553676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691926-9E76-A14D-77E0-1D9FD8900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76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122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𝐴𝐶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101011000100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66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108197" r="-200691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108197" r="-691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204839" r="-200691" b="-2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204839" r="-691" b="-2193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309836" r="-20069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309836" r="-691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409836" r="-20069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409836" r="-691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/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 dirty="0"/>
                  <a:t>Bei der gleichen Zahl gewinnt die höhere Basis.</a:t>
                </a:r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122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=64+2 ∗8+1=81</m:t>
                    </m:r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𝐴𝐶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1010 1100 0100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66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 ∗8+6 ∗1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≠3 ∗16+3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blipFill>
                <a:blip r:embed="rId3"/>
                <a:stretch>
                  <a:fillRect l="-461" t="-2538" b="-6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4376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0365C6-A437-06FB-CD96-FC7C41317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</p:spPr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=−27=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8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8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13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0011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1110 0101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11110011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=−128+64+16+8=−40</m:t>
                    </m:r>
                  </m:oMath>
                </a14:m>
                <a:endParaRPr lang="de-DE" sz="28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  <a:blipFill>
                <a:blip r:embed="rId2"/>
                <a:stretch>
                  <a:fillRect t="-62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4097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985989-7B55-F54A-5703-96922D403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∨(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acc>
                    </m:oMath>
                  </m:oMathPara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 ∨(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∧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∨(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∨0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0126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29CD29-5B57-C9EC-FDD2-20A4CC4C1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∨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53246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93A8C-5D51-A15E-3500-B39601C36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7DFFC3-21E4-FE58-5643-FC461C94D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834434-46D8-8169-D511-9D75F950E9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F19C1194-D512-59B2-523E-66BF75255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95170" y="1576992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A5E91B6-76E9-51B8-36C3-86ED6BBDB4F9}"/>
              </a:ext>
            </a:extLst>
          </p:cNvPr>
          <p:cNvSpPr txBox="1"/>
          <p:nvPr/>
        </p:nvSpPr>
        <p:spPr>
          <a:xfrm>
            <a:off x="5456731" y="2955867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 dirty="0">
              <a:latin typeface="Arial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ACC331-FF69-69BF-C7DF-80F905F21287}"/>
              </a:ext>
            </a:extLst>
          </p:cNvPr>
          <p:cNvSpPr txBox="1"/>
          <p:nvPr/>
        </p:nvSpPr>
        <p:spPr>
          <a:xfrm>
            <a:off x="5941671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5F0D07-7C60-E0FB-48C1-927CA23351F8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07A129-3052-C33B-14A7-D1FE426047BD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EDDAB1-7AED-E4FD-0ED5-BA1B2B7D9743}"/>
              </a:ext>
            </a:extLst>
          </p:cNvPr>
          <p:cNvSpPr txBox="1"/>
          <p:nvPr/>
        </p:nvSpPr>
        <p:spPr>
          <a:xfrm>
            <a:off x="7202908" y="353903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F5CB92-7896-F983-D4BB-378381E0F4C7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08D9F1-6A02-3CF2-BF7F-0056D63A83D2}"/>
              </a:ext>
            </a:extLst>
          </p:cNvPr>
          <p:cNvSpPr txBox="1"/>
          <p:nvPr/>
        </p:nvSpPr>
        <p:spPr>
          <a:xfrm>
            <a:off x="5941665" y="3539032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1470D8-C28C-6153-2E31-23B2B4804C96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495DEC-D92B-9098-8EE9-FADCBCE080D7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961823D-D42B-5D56-236E-BCC50E29AF50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BC92C1-0A9A-5EEF-B14A-526C3C90441F}"/>
              </a:ext>
            </a:extLst>
          </p:cNvPr>
          <p:cNvSpPr txBox="1"/>
          <p:nvPr/>
        </p:nvSpPr>
        <p:spPr>
          <a:xfrm>
            <a:off x="6554766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BE25EEF-D057-064F-4AF7-8DEE647E18E5}"/>
              </a:ext>
            </a:extLst>
          </p:cNvPr>
          <p:cNvSpPr txBox="1"/>
          <p:nvPr/>
        </p:nvSpPr>
        <p:spPr>
          <a:xfrm>
            <a:off x="7202903" y="4219827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6BCE47-04F1-8183-65AE-B712574817C8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5A4D55A-244B-A60C-96EC-E72DD58F2F2E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6BF1959-F8DB-CADF-FAEE-38D591B9EF63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A6D3D3-2866-519A-141C-F3449518AEDB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0816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9202E-5B88-1FDD-43F9-5805B3DA8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DCA97A-7303-4D36-1C9D-18B63B253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612FB34-0072-D926-E12A-906CEA3BF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E87F6649-1C4C-01D1-2F55-28722CB22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12687" y="1550716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4F0549-4CA7-8937-B070-11B238BA2344}"/>
              </a:ext>
            </a:extLst>
          </p:cNvPr>
          <p:cNvSpPr txBox="1"/>
          <p:nvPr/>
        </p:nvSpPr>
        <p:spPr>
          <a:xfrm>
            <a:off x="6122276" y="3573183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66A90F-255D-BBE2-E4FE-6E8C0A3CAE54}"/>
              </a:ext>
            </a:extLst>
          </p:cNvPr>
          <p:cNvSpPr txBox="1"/>
          <p:nvPr/>
        </p:nvSpPr>
        <p:spPr>
          <a:xfrm>
            <a:off x="5324355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3B9CB3-7A84-8450-8957-9363EE9B9D3B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5449C4-9B79-36A6-55A1-56B9EF4CF786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A043B-4F45-D658-3897-BB14D46318E3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923B58-FE4C-754D-D2CB-29A3C0A97CBD}"/>
              </a:ext>
            </a:extLst>
          </p:cNvPr>
          <p:cNvSpPr txBox="1"/>
          <p:nvPr/>
        </p:nvSpPr>
        <p:spPr>
          <a:xfrm>
            <a:off x="5970602" y="2912070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ECBB0E-FB9A-1EB8-EFBD-443A7687B5A4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43AF71-FEA0-E061-A979-3A58EFF0FD7F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720BB7-5A6D-9158-01D2-D332F6A00EDA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9257CA-00C2-098D-906C-C9A16ADF55AF}"/>
              </a:ext>
            </a:extLst>
          </p:cNvPr>
          <p:cNvSpPr txBox="1"/>
          <p:nvPr/>
        </p:nvSpPr>
        <p:spPr>
          <a:xfrm>
            <a:off x="7201019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4291ED-7704-C31B-6A6B-7E0F220FF9FA}"/>
              </a:ext>
            </a:extLst>
          </p:cNvPr>
          <p:cNvSpPr txBox="1"/>
          <p:nvPr/>
        </p:nvSpPr>
        <p:spPr>
          <a:xfrm>
            <a:off x="6595232" y="4200536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9BB120-EDBC-C25E-D75E-BC15F8173BC0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4402B67-472A-E0EB-19EB-4FD283E1B466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4300943-6812-ABA0-F87D-5FB1CE5CA0C9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D54441-BC1E-3A06-02F1-C284E009B72A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69D7DF-DDBF-6C5B-759F-EA2181DAFD31}"/>
              </a:ext>
            </a:extLst>
          </p:cNvPr>
          <p:cNvSpPr txBox="1"/>
          <p:nvPr/>
        </p:nvSpPr>
        <p:spPr>
          <a:xfrm>
            <a:off x="7222193" y="3573573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6673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3A24E-A6AC-D9C2-DC88-8D8841D0D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11167A-45ED-F823-18F7-E2D322E75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9CC80F-28D4-5CB3-E2CE-0C184859C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6" name="Picture 5" descr="A grid of numbers and symbols&#10;&#10;AI-generated content may be incorrect.">
            <a:extLst>
              <a:ext uri="{FF2B5EF4-FFF2-40B4-BE49-F238E27FC236}">
                <a16:creationId xmlns:a16="http://schemas.microsoft.com/office/drawing/2014/main" id="{C5359BD6-3716-127C-6B47-A72C8BB8C8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73" t="1556" r="-183"/>
          <a:stretch>
            <a:fillRect/>
          </a:stretch>
        </p:blipFill>
        <p:spPr>
          <a:xfrm>
            <a:off x="3631195" y="865690"/>
            <a:ext cx="4929595" cy="4711938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B96E57C-0EA6-7A57-F1A5-778D2C38B064}"/>
              </a:ext>
            </a:extLst>
          </p:cNvPr>
          <p:cNvSpPr/>
          <p:nvPr/>
        </p:nvSpPr>
        <p:spPr>
          <a:xfrm>
            <a:off x="5222232" y="2352674"/>
            <a:ext cx="673260" cy="2939968"/>
          </a:xfrm>
          <a:prstGeom prst="round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F680A90-76C8-0511-79F0-C5AC332D2A14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B573C8D-03A0-B4A9-CDBC-D7B55730E179}"/>
              </a:ext>
            </a:extLst>
          </p:cNvPr>
          <p:cNvSpPr/>
          <p:nvPr/>
        </p:nvSpPr>
        <p:spPr>
          <a:xfrm>
            <a:off x="6765522" y="2358881"/>
            <a:ext cx="673260" cy="2939968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550B69E-F381-9C0B-BF43-8B4B49042B4C}"/>
              </a:ext>
            </a:extLst>
          </p:cNvPr>
          <p:cNvSpPr/>
          <p:nvPr/>
        </p:nvSpPr>
        <p:spPr>
          <a:xfrm>
            <a:off x="6804105" y="3886318"/>
            <a:ext cx="1435259" cy="625032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EBDE187-52BA-1B59-04C9-D44A31DCE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660" y="5708007"/>
            <a:ext cx="737235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3055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1B940-026F-E484-3F4F-52ABB7D17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id of numbers and letters&#10;&#10;AI-generated content may be incorrect.">
            <a:extLst>
              <a:ext uri="{FF2B5EF4-FFF2-40B4-BE49-F238E27FC236}">
                <a16:creationId xmlns:a16="http://schemas.microsoft.com/office/drawing/2014/main" id="{D724A065-72F8-EB05-EE34-5028B2C6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5956" y="980110"/>
            <a:ext cx="4769736" cy="457947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BDFEE2C-ABEC-3F8E-2458-41DE7476A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BD01C-B180-5F37-09FC-6FBEB00E8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DBD8FDF-502B-F16B-4576-A0B8FA1BB406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9088859-044B-33F3-6524-7A5827CDD6BB}"/>
              </a:ext>
            </a:extLst>
          </p:cNvPr>
          <p:cNvSpPr/>
          <p:nvPr/>
        </p:nvSpPr>
        <p:spPr>
          <a:xfrm>
            <a:off x="6726941" y="2371964"/>
            <a:ext cx="1444905" cy="1377385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82BF0B-C577-07D8-2731-265D9C2A2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19" y="5708007"/>
            <a:ext cx="5810250" cy="419100"/>
          </a:xfrm>
          <a:prstGeom prst="rect">
            <a:avLst/>
          </a:prstGeom>
        </p:spPr>
      </p:pic>
      <p:sp>
        <p:nvSpPr>
          <p:cNvPr id="14" name="Right Bracket 13">
            <a:extLst>
              <a:ext uri="{FF2B5EF4-FFF2-40B4-BE49-F238E27FC236}">
                <a16:creationId xmlns:a16="http://schemas.microsoft.com/office/drawing/2014/main" id="{7C7AEB39-754A-289C-A57A-AE96D32BE786}"/>
              </a:ext>
            </a:extLst>
          </p:cNvPr>
          <p:cNvSpPr/>
          <p:nvPr/>
        </p:nvSpPr>
        <p:spPr>
          <a:xfrm rot="-5400000">
            <a:off x="5266592" y="4709744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C1EA404C-9570-CDEB-B589-7FA4E017C090}"/>
              </a:ext>
            </a:extLst>
          </p:cNvPr>
          <p:cNvSpPr/>
          <p:nvPr/>
        </p:nvSpPr>
        <p:spPr>
          <a:xfrm rot="5400000">
            <a:off x="5272454" y="2312376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4611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F9FFB-6560-8F1E-6F4C-64511D3A3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F37715-0D59-D06B-AB2C-486BD68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5A77A4-8F6D-081F-9391-029226F59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AA5F5E-AA0F-BC6B-91AD-E52B0DB9A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655" y="1716963"/>
            <a:ext cx="6779172" cy="481176"/>
          </a:xfrm>
          <a:prstGeom prst="rect">
            <a:avLst/>
          </a:prstGeom>
        </p:spPr>
      </p:pic>
      <p:pic>
        <p:nvPicPr>
          <p:cNvPr id="8" name="Picture 7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B5197F23-D08C-F676-62EA-8F6386882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064" y="2387271"/>
            <a:ext cx="2815458" cy="2626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24FBF2-AFBB-CDCD-D989-844E36452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6813" y="5102171"/>
            <a:ext cx="3762375" cy="119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01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AF184-0C6A-2198-40C3-2817AA8E4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951CA5-EC8B-CAFB-3356-16D9576EC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E7E94-C46F-0348-AC8E-ADCCF4BAC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en-GB" dirty="0">
                <a:cs typeface="Arial"/>
              </a:rPr>
              <a:t>6 Knoten und 10 </a:t>
            </a:r>
            <a:r>
              <a:rPr lang="en-GB" dirty="0" err="1">
                <a:cs typeface="Arial"/>
              </a:rPr>
              <a:t>Zweige</a:t>
            </a:r>
            <a:r>
              <a:rPr lang="en-GB" dirty="0">
                <a:cs typeface="Arial"/>
              </a:rPr>
              <a:t>: </a:t>
            </a:r>
            <a:endParaRPr lang="en-US" dirty="0"/>
          </a:p>
          <a:p>
            <a:pPr marL="0" indent="0">
              <a:buNone/>
            </a:pPr>
            <a:r>
              <a:rPr lang="en-GB" dirty="0">
                <a:cs typeface="Arial"/>
              </a:rPr>
              <a:t>    m = z - (k-1) = 10 – 5 = 5 </a:t>
            </a:r>
            <a:r>
              <a:rPr lang="en-GB" dirty="0" err="1">
                <a:cs typeface="Arial"/>
              </a:rPr>
              <a:t>unabhängige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Maschengleichungen</a:t>
            </a: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56576E2D-12A0-6B28-41FB-1D1AE4A72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517" y="2426313"/>
            <a:ext cx="7593725" cy="3835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7931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0669D-181B-5457-72E4-733900FCA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5BE223-7331-D302-EA12-F7786CDBA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98CE90-EC75-4CE4-6BED-5925E90A2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3" name="Picture 2" descr="A black background with white circles&#10;&#10;AI-generated content may be incorrect.">
            <a:extLst>
              <a:ext uri="{FF2B5EF4-FFF2-40B4-BE49-F238E27FC236}">
                <a16:creationId xmlns:a16="http://schemas.microsoft.com/office/drawing/2014/main" id="{D7206A18-DF2A-8FD0-094B-28D39A8B8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296" y="874190"/>
            <a:ext cx="5294092" cy="538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4217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EC84B-2F88-FFF8-B544-28345B348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74A6A7-28A8-85B5-3379-184F61E19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683C92-8F9A-AC9D-C9C2-B2CF265C5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c)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4F185DE-55D1-6B84-64CF-616C64BD7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69326" y="1647041"/>
            <a:ext cx="7118309" cy="356391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E72670B-9C3E-D71D-C990-1D720B0D9ECA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1896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6CD1D-5743-2F49-851E-20BC8536E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2378E7-2852-6F4B-4E59-7DAF596A6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F318D9-A6A2-C7B4-9E00-3326E6F31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d)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D270DA-534A-18F0-6A32-7A1F004BCFF7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DC2770F5-D99D-D103-198E-D3EA181461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86" r="1042" b="1024"/>
          <a:stretch>
            <a:fillRect/>
          </a:stretch>
        </p:blipFill>
        <p:spPr>
          <a:xfrm>
            <a:off x="1254466" y="1714500"/>
            <a:ext cx="4590119" cy="216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7209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47F33-5EC5-B9F7-B0D6-41508B790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CC4FAA-AFD2-C32C-3FE8-627193F1A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28317A-EEC7-8BD2-BF79-A50C4D90F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e) k-1 = 6-1 = 5 linear </a:t>
            </a:r>
            <a:r>
              <a:rPr lang="en-GB" dirty="0" err="1">
                <a:cs typeface="Arial"/>
              </a:rPr>
              <a:t>unabhängige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Knotengleichungen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F66330-5259-E40E-1585-6C2EDADC4C3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 descr="A math equations with black text&#10;&#10;AI-generated content may be incorrect.">
            <a:extLst>
              <a:ext uri="{FF2B5EF4-FFF2-40B4-BE49-F238E27FC236}">
                <a16:creationId xmlns:a16="http://schemas.microsoft.com/office/drawing/2014/main" id="{5B826573-1DDA-DFFB-0561-49099777D3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1" b="-347"/>
          <a:stretch>
            <a:fillRect/>
          </a:stretch>
        </p:blipFill>
        <p:spPr>
          <a:xfrm>
            <a:off x="1054320" y="2325306"/>
            <a:ext cx="6601291" cy="279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157053"/>
      </p:ext>
    </p:extLst>
  </p:cSld>
  <p:clrMapOvr>
    <a:masterClrMapping/>
  </p:clrMapOvr>
</p:sld>
</file>

<file path=ppt/theme/theme1.xml><?xml version="1.0" encoding="utf-8"?>
<a:theme xmlns:a="http://schemas.openxmlformats.org/drawingml/2006/main" name="UT_pptmaster_mathnat">
  <a:themeElements>
    <a:clrScheme name="Uni Tübingen inkl. Sekundarfarben">
      <a:dk1>
        <a:srgbClr val="333333"/>
      </a:dk1>
      <a:lt1>
        <a:srgbClr val="FFFFFF"/>
      </a:lt1>
      <a:dk2>
        <a:srgbClr val="A51E37"/>
      </a:dk2>
      <a:lt2>
        <a:srgbClr val="2D2015"/>
      </a:lt2>
      <a:accent1>
        <a:srgbClr val="BFBFBF"/>
      </a:accent1>
      <a:accent2>
        <a:srgbClr val="B4A069"/>
      </a:accent2>
      <a:accent3>
        <a:srgbClr val="415A8C"/>
      </a:accent3>
      <a:accent4>
        <a:srgbClr val="A51E37"/>
      </a:accent4>
      <a:accent5>
        <a:srgbClr val="326E1E"/>
      </a:accent5>
      <a:accent6>
        <a:srgbClr val="D29600"/>
      </a:accent6>
      <a:hlink>
        <a:srgbClr val="32414B"/>
      </a:hlink>
      <a:folHlink>
        <a:srgbClr val="A51E37"/>
      </a:folHlink>
    </a:clrScheme>
    <a:fontScheme name="UT_TIT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UT_TITEL 1">
        <a:dk1>
          <a:srgbClr val="333333"/>
        </a:dk1>
        <a:lt1>
          <a:srgbClr val="FFFFFF"/>
        </a:lt1>
        <a:dk2>
          <a:srgbClr val="A51E37"/>
        </a:dk2>
        <a:lt2>
          <a:srgbClr val="2D2015"/>
        </a:lt2>
        <a:accent1>
          <a:srgbClr val="ADB3B7"/>
        </a:accent1>
        <a:accent2>
          <a:srgbClr val="B4A069"/>
        </a:accent2>
        <a:accent3>
          <a:srgbClr val="FFFFFF"/>
        </a:accent3>
        <a:accent4>
          <a:srgbClr val="2A2A2A"/>
        </a:accent4>
        <a:accent5>
          <a:srgbClr val="D3D6D8"/>
        </a:accent5>
        <a:accent6>
          <a:srgbClr val="A3915E"/>
        </a:accent6>
        <a:hlink>
          <a:srgbClr val="32414B"/>
        </a:hlink>
        <a:folHlink>
          <a:srgbClr val="A51E3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799F1A435591F42BCDE2557FA51CDDA" ma:contentTypeVersion="15" ma:contentTypeDescription="Create a new document." ma:contentTypeScope="" ma:versionID="baa9c65a0a545f65583643df3cf8d9f4">
  <xsd:schema xmlns:xsd="http://www.w3.org/2001/XMLSchema" xmlns:xs="http://www.w3.org/2001/XMLSchema" xmlns:p="http://schemas.microsoft.com/office/2006/metadata/properties" xmlns:ns2="f957fcc5-14ca-4ecf-9842-9f00d595875c" xmlns:ns3="e08cfc56-8307-41e5-898e-b333c51beffa" targetNamespace="http://schemas.microsoft.com/office/2006/metadata/properties" ma:root="true" ma:fieldsID="015d39312a6521742bc57e13b2dae392" ns2:_="" ns3:_="">
    <xsd:import namespace="f957fcc5-14ca-4ecf-9842-9f00d595875c"/>
    <xsd:import namespace="e08cfc56-8307-41e5-898e-b333c51beff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bjectDetectorVersion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57fcc5-14ca-4ecf-9842-9f00d595875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bde38a42-f053-4c2a-847a-0f3502bf1da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8cfc56-8307-41e5-898e-b333c51beffa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67681e-1cf4-4a75-82d6-426285e8dab8}" ma:internalName="TaxCatchAll" ma:showField="CatchAllData" ma:web="e08cfc56-8307-41e5-898e-b333c51beff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08cfc56-8307-41e5-898e-b333c51beffa" xsi:nil="true"/>
    <lcf76f155ced4ddcb4097134ff3c332f xmlns="f957fcc5-14ca-4ecf-9842-9f00d595875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C48F4C2-72FB-464C-8474-E470A160399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6F35E4A-19A6-42ED-B9B2-B9FDCAD1EAA1}">
  <ds:schemaRefs>
    <ds:schemaRef ds:uri="e08cfc56-8307-41e5-898e-b333c51beffa"/>
    <ds:schemaRef ds:uri="f957fcc5-14ca-4ecf-9842-9f00d595875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01C86142-AC43-4D34-9C61-6017C7A1D49D}">
  <ds:schemaRefs>
    <ds:schemaRef ds:uri="e08cfc56-8307-41e5-898e-b333c51beffa"/>
    <ds:schemaRef ds:uri="f957fcc5-14ca-4ecf-9842-9f00d595875c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244</Words>
  <Application>Microsoft Office PowerPoint</Application>
  <PresentationFormat>Widescreen</PresentationFormat>
  <Paragraphs>63</Paragraphs>
  <Slides>16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UT_pptmaster_mathnat</vt:lpstr>
      <vt:lpstr>Technische Informatik 1</vt:lpstr>
      <vt:lpstr>Aufgabe 1.1</vt:lpstr>
      <vt:lpstr>Aufgabe 1.2</vt:lpstr>
      <vt:lpstr>Aufgabe 1.3</vt:lpstr>
      <vt:lpstr>Aufgabe 2.1</vt:lpstr>
      <vt:lpstr>Aufgabe 2.1</vt:lpstr>
      <vt:lpstr>Aufgabe 3.1</vt:lpstr>
      <vt:lpstr>Aufgabe 3.1</vt:lpstr>
      <vt:lpstr>Aufgabe 3.1</vt:lpstr>
      <vt:lpstr>Aufgabe 3.1</vt:lpstr>
      <vt:lpstr>Aufgabe 4.1</vt:lpstr>
      <vt:lpstr>Aufgabe 4.2</vt:lpstr>
      <vt:lpstr>Aufgabe 4.2</vt:lpstr>
      <vt:lpstr>Aufgabe 4.2</vt:lpstr>
      <vt:lpstr>Aufgabe 4.2</vt:lpstr>
      <vt:lpstr>Aufgabe 4.2</vt:lpstr>
    </vt:vector>
  </TitlesOfParts>
  <Company>Hewlett-Packard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Sebastian Burg;bringman@fzi.de;Rudi Seidl</dc:creator>
  <cp:lastModifiedBy>adam könig</cp:lastModifiedBy>
  <cp:revision>310</cp:revision>
  <cp:lastPrinted>2023-11-29T22:31:04Z</cp:lastPrinted>
  <dcterms:created xsi:type="dcterms:W3CDTF">2012-05-03T09:32:35Z</dcterms:created>
  <dcterms:modified xsi:type="dcterms:W3CDTF">2026-02-08T23:33:01Z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0x0101008799F1A435591F42BCDE2557FA51CDDA</vt:lpwstr>
  </property>
  <property fmtid="{D5CDD505-2E9C-101B-9397-08002B2CF9AE}" pid="3" name="MediaServiceImageTags">
    <vt:lpwstr/>
  </property>
</Properties>
</file>