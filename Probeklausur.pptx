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5"/>
  </p:notesMasterIdLst>
  <p:handoutMasterIdLst>
    <p:handoutMasterId r:id="rId36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69" r:id="rId21"/>
    <p:sldId id="1055" r:id="rId22"/>
    <p:sldId id="1071" r:id="rId23"/>
    <p:sldId id="1054" r:id="rId24"/>
    <p:sldId id="1070" r:id="rId25"/>
    <p:sldId id="1056" r:id="rId26"/>
    <p:sldId id="1057" r:id="rId27"/>
    <p:sldId id="1058" r:id="rId28"/>
    <p:sldId id="1059" r:id="rId29"/>
    <p:sldId id="1060" r:id="rId30"/>
    <p:sldId id="1061" r:id="rId31"/>
    <p:sldId id="1062" r:id="rId32"/>
    <p:sldId id="1072" r:id="rId33"/>
    <p:sldId id="1073" r:id="rId34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69"/>
            <p14:sldId id="1055"/>
            <p14:sldId id="1071"/>
            <p14:sldId id="1054"/>
            <p14:sldId id="1070"/>
            <p14:sldId id="1056"/>
            <p14:sldId id="1057"/>
            <p14:sldId id="1058"/>
            <p14:sldId id="1059"/>
            <p14:sldId id="1060"/>
            <p14:sldId id="1061"/>
            <p14:sldId id="1062"/>
            <p14:sldId id="1072"/>
            <p14:sldId id="1073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2579337A-4FA7-A840-84D1-96548F8A9632}" v="68" dt="2026-02-10T09:09:48.344"/>
    <p1510:client id="{4C0DE733-53BE-F9E9-255C-E232D43849EE}" v="166" dt="2026-02-09T12:09:28.159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  <p1510:client id="{E456898E-0D6D-61B1-C654-26B7480EF30F}" v="153" dt="2026-02-10T09:25:30.7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10.02.2026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/>
              <a:t>T</a:t>
            </a:r>
            <a:r>
              <a:rPr lang="de-DE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9516487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-1 x (31)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45346232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45346232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/>
              </a:p>
              <a:p>
                <a:pPr marL="0" indent="0"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b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de-DE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de-DE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de-DE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Ein Huntington’sches Axiom besagt (a ∧ b) ∨ a = a </a:t>
                </a:r>
                <a:r>
                  <a:rPr lang="de-DE" b="1"/>
                  <a:t>(Falsch</a:t>
                </a:r>
                <a:r>
                  <a:rPr lang="de-DE"/>
                  <a:t>, Absorptionsgesetz folgt aus HA ist aber kein HA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{¬, xor} ist ein vollständiges Operatorensystem </a:t>
                </a:r>
                <a:r>
                  <a:rPr lang="de-DE" b="1"/>
                  <a:t>(Falsch</a:t>
                </a:r>
                <a:r>
                  <a:rPr lang="de-DE"/>
                  <a:t>, geht nicht [siehe ÜB]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/>
                  <a:t>} ist ein vollst¨andiges Operatorensystem </a:t>
                </a:r>
                <a:r>
                  <a:rPr lang="de-DE" b="1"/>
                  <a:t>(Wahr</a:t>
                </a:r>
                <a:r>
                  <a:rPr lang="de-DE"/>
                  <a:t>, geht [siehe ÜB]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/>
                  <a:t>kommt in der DNF von ((a ∨ b) → c) vor </a:t>
                </a:r>
                <a:r>
                  <a:rPr lang="de-DE" b="1"/>
                  <a:t>(Falsch</a:t>
                </a:r>
                <a:r>
                  <a:rPr lang="de-DE"/>
                  <a:t>, (0, 1, 0) ist falsch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/>
                  <a:t>ist eine Tautologie </a:t>
                </a:r>
                <a:r>
                  <a:rPr lang="de-DE" b="1"/>
                  <a:t>(Wahr</a:t>
                </a:r>
                <a:r>
                  <a:rPr lang="de-DE"/>
                  <a:t>, Mit Term 1 haben wir alles außer (0, 1) mit Term 2 haben wir (0, 1) also immer wahr.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Erfüllen die boole’schen Ausdrücke A und B die gleiche logische Funktion, so gilt A xor B ist eine Kontradiktion </a:t>
                </a:r>
                <a:r>
                  <a:rPr lang="de-DE" b="1"/>
                  <a:t>(Wahr, </a:t>
                </a:r>
                <a:r>
                  <a:rPr lang="de-DE"/>
                  <a:t>beide Ausdrücke sind immer gleichzeitig wahr oder falsch</a:t>
                </a:r>
                <a:r>
                  <a:rPr lang="de-DE" b="1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6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8" grpId="0" animBg="1"/>
      <p:bldP spid="14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Der </a:t>
            </a:r>
            <a:r>
              <a:rPr lang="en-GB" kern="0" err="1">
                <a:cs typeface="Arial"/>
              </a:rPr>
              <a:t>nächste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Zustand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ist</a:t>
            </a:r>
            <a:r>
              <a:rPr lang="en-GB" kern="0">
                <a:cs typeface="Arial"/>
              </a:rPr>
              <a:t> immer </a:t>
            </a:r>
            <a:r>
              <a:rPr lang="en-GB" kern="0" err="1">
                <a:cs typeface="Arial"/>
              </a:rPr>
              <a:t>nur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vom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aktuellen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Zustand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abhängig</a:t>
            </a:r>
            <a:r>
              <a:rPr lang="en-GB" kern="0">
                <a:cs typeface="Arial"/>
              </a:rPr>
              <a:t>, es </a:t>
            </a:r>
            <a:r>
              <a:rPr lang="en-GB" kern="0" err="1">
                <a:cs typeface="Arial"/>
              </a:rPr>
              <a:t>gibt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keine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weitere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Abgabe</a:t>
            </a:r>
            <a:r>
              <a:rPr lang="en-GB" kern="0">
                <a:cs typeface="Arial"/>
              </a:rPr>
              <a:t>, die den </a:t>
            </a:r>
            <a:r>
              <a:rPr lang="en-GB" kern="0" err="1">
                <a:cs typeface="Arial"/>
              </a:rPr>
              <a:t>Folgezustand</a:t>
            </a:r>
            <a:r>
              <a:rPr lang="en-GB" kern="0">
                <a:cs typeface="Arial"/>
              </a:rPr>
              <a:t> mitbestimmt. Es handelt sich um </a:t>
            </a:r>
            <a:r>
              <a:rPr lang="en-GB" kern="0" err="1">
                <a:cs typeface="Arial"/>
              </a:rPr>
              <a:t>einen</a:t>
            </a:r>
            <a:r>
              <a:rPr lang="en-GB" kern="0">
                <a:cs typeface="Arial"/>
              </a:rPr>
              <a:t> Moore-</a:t>
            </a:r>
            <a:r>
              <a:rPr lang="en-GB" kern="0" err="1">
                <a:cs typeface="Arial"/>
              </a:rPr>
              <a:t>Automaten</a:t>
            </a:r>
            <a:r>
              <a:rPr lang="en-GB" kern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3.4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83614B1-9CA5-3DA4-A0EE-F1D71BA5A5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1960290"/>
              </p:ext>
            </p:extLst>
          </p:nvPr>
        </p:nvGraphicFramePr>
        <p:xfrm>
          <a:off x="1137574" y="1773238"/>
          <a:ext cx="3283952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20988">
                  <a:extLst>
                    <a:ext uri="{9D8B030D-6E8A-4147-A177-3AD203B41FA5}">
                      <a16:colId xmlns:a16="http://schemas.microsoft.com/office/drawing/2014/main" val="9274008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</a:t>
            </a:r>
            <a:r>
              <a:rPr lang="en-GB" kern="0" err="1">
                <a:cs typeface="Arial"/>
              </a:rPr>
              <a:t>Multiplikation</a:t>
            </a:r>
            <a:r>
              <a:rPr lang="en-GB" kern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8912-4707-1A32-6F1E-3AD0C720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FCF2E-2964-6BFB-3110-707EF9340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3.6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4AB020F-E3DF-FA63-98A8-8A0F77523BD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Ein </a:t>
            </a:r>
            <a:r>
              <a:rPr lang="en-GB" kern="0" err="1">
                <a:cs typeface="Arial"/>
              </a:rPr>
              <a:t>Schaltwerk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enthält</a:t>
            </a:r>
            <a:r>
              <a:rPr lang="en-GB" kern="0">
                <a:cs typeface="Arial"/>
              </a:rPr>
              <a:t> </a:t>
            </a:r>
            <a:r>
              <a:rPr lang="en-GB" kern="0" err="1">
                <a:cs typeface="Arial"/>
              </a:rPr>
              <a:t>speichernde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Elemente</a:t>
            </a:r>
            <a:r>
              <a:rPr lang="en-GB" kern="0">
                <a:cs typeface="Arial"/>
              </a:rPr>
              <a:t>, </a:t>
            </a:r>
            <a:r>
              <a:rPr lang="en-GB" kern="0" err="1">
                <a:cs typeface="Arial"/>
              </a:rPr>
              <a:t>ein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Schaltnetz</a:t>
            </a:r>
            <a:r>
              <a:rPr lang="en-GB" kern="0">
                <a:cs typeface="Arial"/>
              </a:rPr>
              <a:t> nicht.</a:t>
            </a:r>
          </a:p>
        </p:txBody>
      </p:sp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B5993DE-0DC0-824E-E302-41A3B053B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44148" y="1771267"/>
            <a:ext cx="10243594" cy="2787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34620C-1B13-B232-5CE7-63E7A071D0AB}"/>
              </a:ext>
            </a:extLst>
          </p:cNvPr>
          <p:cNvCxnSpPr/>
          <p:nvPr/>
        </p:nvCxnSpPr>
        <p:spPr>
          <a:xfrm>
            <a:off x="10664141" y="302002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EC7A4D-654C-5F91-7B27-131E237A7F23}"/>
              </a:ext>
            </a:extLst>
          </p:cNvPr>
          <p:cNvCxnSpPr>
            <a:cxnSpLocks/>
          </p:cNvCxnSpPr>
          <p:nvPr/>
        </p:nvCxnSpPr>
        <p:spPr>
          <a:xfrm>
            <a:off x="9680292" y="414855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B9C05-EA17-7D14-3C5F-DE43382E3F3D}"/>
              </a:ext>
            </a:extLst>
          </p:cNvPr>
          <p:cNvCxnSpPr>
            <a:cxnSpLocks/>
          </p:cNvCxnSpPr>
          <p:nvPr/>
        </p:nvCxnSpPr>
        <p:spPr>
          <a:xfrm>
            <a:off x="9680291" y="414855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40EC77-637D-C75C-9A1F-BA4C78CD868C}"/>
              </a:ext>
            </a:extLst>
          </p:cNvPr>
          <p:cNvCxnSpPr>
            <a:cxnSpLocks/>
          </p:cNvCxnSpPr>
          <p:nvPr/>
        </p:nvCxnSpPr>
        <p:spPr>
          <a:xfrm>
            <a:off x="9680293" y="260526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6645936-35EB-D721-7349-53CFDFFF0507}"/>
              </a:ext>
            </a:extLst>
          </p:cNvPr>
          <p:cNvCxnSpPr>
            <a:cxnSpLocks/>
          </p:cNvCxnSpPr>
          <p:nvPr/>
        </p:nvCxnSpPr>
        <p:spPr>
          <a:xfrm>
            <a:off x="10664139" y="3440439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0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4" name="Picture 3" descr="A diagram of a grid&#10;&#10;AI-generated content may be incorrect.">
            <a:extLst>
              <a:ext uri="{FF2B5EF4-FFF2-40B4-BE49-F238E27FC236}">
                <a16:creationId xmlns:a16="http://schemas.microsoft.com/office/drawing/2014/main" id="{01F95633-012E-99E4-A9E6-C7407ACB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078" y="1776796"/>
            <a:ext cx="4972050" cy="40576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53FE32-D25C-80D2-5009-8889EA74E663}"/>
              </a:ext>
            </a:extLst>
          </p:cNvPr>
          <p:cNvSpPr/>
          <p:nvPr/>
        </p:nvSpPr>
        <p:spPr>
          <a:xfrm>
            <a:off x="5332248" y="305062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DA4AFC-6670-6454-B897-47E79E7EAD3E}"/>
              </a:ext>
            </a:extLst>
          </p:cNvPr>
          <p:cNvSpPr/>
          <p:nvPr/>
        </p:nvSpPr>
        <p:spPr>
          <a:xfrm>
            <a:off x="5954109" y="305062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17D7CC-1CBC-BC41-8283-AA123DCF9E38}"/>
              </a:ext>
            </a:extLst>
          </p:cNvPr>
          <p:cNvSpPr/>
          <p:nvPr/>
        </p:nvSpPr>
        <p:spPr>
          <a:xfrm>
            <a:off x="6575970" y="367248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AF5D9-8DC3-D00A-3C72-DF29993894D7}"/>
              </a:ext>
            </a:extLst>
          </p:cNvPr>
          <p:cNvSpPr/>
          <p:nvPr/>
        </p:nvSpPr>
        <p:spPr>
          <a:xfrm>
            <a:off x="6575969" y="429434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F61AFC-8174-01FC-D31D-A34960AF5F00}"/>
              </a:ext>
            </a:extLst>
          </p:cNvPr>
          <p:cNvSpPr/>
          <p:nvPr/>
        </p:nvSpPr>
        <p:spPr>
          <a:xfrm>
            <a:off x="5332245" y="492496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9399B-7124-48BB-C7F7-0447B50B36EA}"/>
              </a:ext>
            </a:extLst>
          </p:cNvPr>
          <p:cNvSpPr/>
          <p:nvPr/>
        </p:nvSpPr>
        <p:spPr>
          <a:xfrm>
            <a:off x="5954106" y="4916209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ACC5A9-E19F-374D-EA4B-B436121AA008}"/>
              </a:ext>
            </a:extLst>
          </p:cNvPr>
          <p:cNvSpPr/>
          <p:nvPr/>
        </p:nvSpPr>
        <p:spPr>
          <a:xfrm>
            <a:off x="4710382" y="3672484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511BB-DA7A-5446-526E-D4F01DE9D95C}"/>
              </a:ext>
            </a:extLst>
          </p:cNvPr>
          <p:cNvSpPr/>
          <p:nvPr/>
        </p:nvSpPr>
        <p:spPr>
          <a:xfrm>
            <a:off x="4710381" y="429434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D3CC-2816-9E0B-FCD9-13464E2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0705A3-AB8C-DE02-3D93-D0D2B6591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9FE27-A2D3-0528-14C1-92B79607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15" name="Picture 1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CE87F01-6937-0C21-D3DD-8C0FA667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" b="1647"/>
          <a:stretch>
            <a:fillRect/>
          </a:stretch>
        </p:blipFill>
        <p:spPr>
          <a:xfrm>
            <a:off x="1043828" y="1859705"/>
            <a:ext cx="10668000" cy="380364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D05524C-1A62-8431-AB7E-AE594531D225}"/>
              </a:ext>
            </a:extLst>
          </p:cNvPr>
          <p:cNvSpPr txBox="1"/>
          <p:nvPr/>
        </p:nvSpPr>
        <p:spPr>
          <a:xfrm>
            <a:off x="4147594" y="3173392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F7A1D5-16DC-B37C-C635-7C82D37D665C}"/>
              </a:ext>
            </a:extLst>
          </p:cNvPr>
          <p:cNvSpPr txBox="1"/>
          <p:nvPr/>
        </p:nvSpPr>
        <p:spPr>
          <a:xfrm>
            <a:off x="8931796" y="3173391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DE88BE-38A8-CB65-F954-E576AA464FE0}"/>
              </a:ext>
            </a:extLst>
          </p:cNvPr>
          <p:cNvSpPr txBox="1"/>
          <p:nvPr/>
        </p:nvSpPr>
        <p:spPr>
          <a:xfrm>
            <a:off x="10012099" y="3173390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091E4F-EC43-08E3-6828-C6A45FBBCFFF}"/>
              </a:ext>
            </a:extLst>
          </p:cNvPr>
          <p:cNvSpPr txBox="1"/>
          <p:nvPr/>
        </p:nvSpPr>
        <p:spPr>
          <a:xfrm>
            <a:off x="10880200" y="4764909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983CBF-02FE-1936-B604-59FC5A24ECFF}"/>
              </a:ext>
            </a:extLst>
          </p:cNvPr>
          <p:cNvSpPr txBox="1"/>
          <p:nvPr/>
        </p:nvSpPr>
        <p:spPr>
          <a:xfrm>
            <a:off x="4147592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AA9DA-ED4D-94F3-AC40-D0FBD476C025}"/>
              </a:ext>
            </a:extLst>
          </p:cNvPr>
          <p:cNvSpPr txBox="1"/>
          <p:nvPr/>
        </p:nvSpPr>
        <p:spPr>
          <a:xfrm>
            <a:off x="7890073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EBD727-531B-A642-5EE3-DB9BEFA66D4C}"/>
              </a:ext>
            </a:extLst>
          </p:cNvPr>
          <p:cNvSpPr txBox="1"/>
          <p:nvPr/>
        </p:nvSpPr>
        <p:spPr>
          <a:xfrm>
            <a:off x="10880199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5C9599-A282-1268-36BB-4F413CB96FF3}"/>
              </a:ext>
            </a:extLst>
          </p:cNvPr>
          <p:cNvSpPr txBox="1"/>
          <p:nvPr/>
        </p:nvSpPr>
        <p:spPr>
          <a:xfrm>
            <a:off x="3202326" y="4764908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961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467C-543D-1233-B796-516A6E5B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2FA69-4E4F-C9F4-D744-DC972049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0A2E6-2043-3F44-4FAF-45486275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>
                <a:cs typeface="Arial"/>
              </a:rPr>
              <a:t>6 Knoten und 10 </a:t>
            </a:r>
            <a:r>
              <a:rPr lang="en-GB" err="1">
                <a:cs typeface="Arial"/>
              </a:rPr>
              <a:t>Zweige</a:t>
            </a:r>
            <a:r>
              <a:rPr lang="en-GB">
                <a:cs typeface="Arial"/>
              </a:rPr>
              <a:t>: </a:t>
            </a:r>
            <a:endParaRPr lang="en-US"/>
          </a:p>
          <a:p>
            <a:pPr marL="0" indent="0">
              <a:buNone/>
            </a:pPr>
            <a:r>
              <a:rPr lang="en-GB">
                <a:cs typeface="Arial"/>
              </a:rPr>
              <a:t>    m = z - (k-1) = 10 – 5 = 5 </a:t>
            </a:r>
            <a:r>
              <a:rPr lang="en-GB" err="1">
                <a:cs typeface="Arial"/>
              </a:rPr>
              <a:t>unabhängige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Maschengleichungen</a:t>
            </a: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0CA1B3B7-9633-10E4-4B65-E50F4E22C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621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c)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d)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e) k-1 = 6-1 = 5 linear </a:t>
            </a:r>
            <a:r>
              <a:rPr lang="en-GB" err="1">
                <a:cs typeface="Arial"/>
              </a:rPr>
              <a:t>unabhängige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i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i</a:t>
                      </a:r>
                      <a:r>
                        <a:rPr lang="de-DE" sz="1100"/>
                        <a:t>1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u</a:t>
                      </a:r>
                      <a:r>
                        <a:rPr lang="de-DE" sz="1100"/>
                        <a:t>L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i</a:t>
                      </a:r>
                      <a:r>
                        <a:rPr lang="de-DE" sz="1100"/>
                        <a:t>L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u</a:t>
                      </a:r>
                      <a:r>
                        <a:rPr lang="de-DE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u</a:t>
                      </a:r>
                      <a:r>
                        <a:rPr lang="de-DE"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>
                <a:cs typeface="Arial"/>
              </a:rPr>
              <a:t>a) CMOS, da die </a:t>
            </a:r>
            <a:r>
              <a:rPr lang="en-GB" kern="0" err="1">
                <a:cs typeface="Arial"/>
              </a:rPr>
              <a:t>Schaltung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aus</a:t>
            </a:r>
            <a:r>
              <a:rPr lang="en-GB" kern="0">
                <a:cs typeface="Arial"/>
              </a:rPr>
              <a:t> PMOS und NMOS </a:t>
            </a:r>
            <a:r>
              <a:rPr lang="en-GB" kern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0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DB7D5-EEEC-0537-4BCE-CF7AA846C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5.2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CC7C3B0-DA10-04E8-5188-1F4AAEEB9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86515" y="1780738"/>
            <a:ext cx="7426907" cy="43379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094270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B52BA-F8C1-A414-78B8-0261F571F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652-98B1-910C-73FF-47B97091B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36AB0-9B76-FFD1-2635-E08DB525B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 Die </a:t>
            </a:r>
            <a:r>
              <a:rPr lang="en-GB" dirty="0" err="1">
                <a:cs typeface="Arial"/>
              </a:rPr>
              <a:t>graue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Schicht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ist</a:t>
            </a:r>
            <a:r>
              <a:rPr lang="en-GB" dirty="0">
                <a:cs typeface="Arial"/>
              </a:rPr>
              <a:t> die </a:t>
            </a:r>
            <a:r>
              <a:rPr lang="en-GB" dirty="0" err="1">
                <a:cs typeface="Arial"/>
              </a:rPr>
              <a:t>Oxidschicht</a:t>
            </a:r>
            <a:r>
              <a:rPr lang="en-GB" dirty="0">
                <a:cs typeface="Arial"/>
              </a:rPr>
              <a:t>. Sie </a:t>
            </a:r>
            <a:r>
              <a:rPr lang="en-GB" dirty="0" err="1">
                <a:cs typeface="Arial"/>
              </a:rPr>
              <a:t>isoliert</a:t>
            </a:r>
            <a:r>
              <a:rPr lang="en-GB" dirty="0">
                <a:cs typeface="Arial"/>
              </a:rPr>
              <a:t> die Gate-</a:t>
            </a:r>
            <a:r>
              <a:rPr lang="en-GB" dirty="0" err="1">
                <a:cs typeface="Arial"/>
              </a:rPr>
              <a:t>Elektrode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vom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Substrat</a:t>
            </a:r>
            <a:r>
              <a:rPr lang="en-GB" dirty="0"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877228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30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3.6</vt:lpstr>
      <vt:lpstr>Aufgabe 3.7</vt:lpstr>
      <vt:lpstr>Aufgabe 3.7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  <vt:lpstr>Aufgabe 5.2</vt:lpstr>
      <vt:lpstr>Aufgabe 5.2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revision>59</cp:revision>
  <cp:lastPrinted>2023-11-29T22:31:04Z</cp:lastPrinted>
  <dcterms:created xsi:type="dcterms:W3CDTF">2012-05-03T09:32:35Z</dcterms:created>
  <dcterms:modified xsi:type="dcterms:W3CDTF">2026-02-10T09:25:58Z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