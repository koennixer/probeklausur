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9" r:id="rId4"/>
  </p:sldMasterIdLst>
  <p:notesMasterIdLst>
    <p:notesMasterId r:id="rId9"/>
  </p:notesMasterIdLst>
  <p:handoutMasterIdLst>
    <p:handoutMasterId r:id="rId10"/>
  </p:handoutMasterIdLst>
  <p:sldIdLst>
    <p:sldId id="1041" r:id="rId5"/>
    <p:sldId id="1043" r:id="rId6"/>
    <p:sldId id="1044" r:id="rId7"/>
    <p:sldId id="1045" r:id="rId8"/>
  </p:sldIdLst>
  <p:sldSz cx="12192000" cy="6858000"/>
  <p:notesSz cx="6858000" cy="9144000"/>
  <p:defaultTextStyle>
    <a:defPPr>
      <a:defRPr lang="de-D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90CC2B19-0152-48C4-9776-5E1C93263B9D}">
          <p14:sldIdLst>
            <p14:sldId id="1041"/>
            <p14:sldId id="1043"/>
            <p14:sldId id="1044"/>
            <p14:sldId id="1045"/>
          </p14:sldIdLst>
        </p14:section>
        <p14:section name="Standardabschnitt" id="{43259912-C5ED-4E84-8ACD-EEBCC30AE9A6}">
          <p14:sldIdLst/>
        </p14:section>
        <p14:section name="Standardabschnitt" id="{5377919E-FBA0-4639-A934-3356EF227BF9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A682"/>
    <a:srgbClr val="19AB73"/>
    <a:srgbClr val="C38ADC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Gitternetz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C7853C-536D-4A76-A0AE-DD22124D55A5}" styleName="Designformatvorlage 1 - Akz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5940675A-B579-460E-94D1-54222C63F5DA}" styleName="Keine Formatvorlage, Tabellengitternetz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2838BEF-8BB2-4498-84A7-C5851F593DF1}" styleName="Mittlere Formatvorlage 4 - Akz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32"/>
    <p:restoredTop sz="94651"/>
  </p:normalViewPr>
  <p:slideViewPr>
    <p:cSldViewPr snapToGrid="0">
      <p:cViewPr varScale="1">
        <p:scale>
          <a:sx n="59" d="100"/>
          <a:sy n="59" d="100"/>
        </p:scale>
        <p:origin x="828" y="5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de-DE"/>
          </a:p>
        </p:txBody>
      </p:sp>
      <p:sp>
        <p:nvSpPr>
          <p:cNvPr id="1024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1024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F99C6125-75A0-455B-936B-E52DC9776EFC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044929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de-DE"/>
          </a:p>
        </p:txBody>
      </p:sp>
      <p:sp>
        <p:nvSpPr>
          <p:cNvPr id="717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717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17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717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A35D100B-8FB0-4F45-A8C0-3F8C65FEE5C2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9445757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35D100B-8FB0-4F45-A8C0-3F8C65FEE5C2}" type="slidenum">
              <a:rPr lang="de-DE" smtClean="0"/>
              <a:pPr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605875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5" name="Rectangle 9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810000" y="6172200"/>
            <a:ext cx="10580400" cy="25400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600" b="1"/>
            </a:lvl1pPr>
          </a:lstStyle>
          <a:p>
            <a:fld id="{30B1EE28-4F67-4416-A18C-74FB63371EF5}" type="datetime1">
              <a:rPr lang="de-DE"/>
              <a:pPr/>
              <a:t>06.02.2026</a:t>
            </a:fld>
            <a:r>
              <a:rPr lang="de-DE"/>
              <a:t>, Verfasser [optional] / 16 pt / Zeilenabstand 1-fach</a:t>
            </a:r>
          </a:p>
        </p:txBody>
      </p:sp>
      <p:sp>
        <p:nvSpPr>
          <p:cNvPr id="4109" name="Line 13"/>
          <p:cNvSpPr>
            <a:spLocks noChangeShapeType="1"/>
          </p:cNvSpPr>
          <p:nvPr/>
        </p:nvSpPr>
        <p:spPr bwMode="auto">
          <a:xfrm>
            <a:off x="810000" y="1258888"/>
            <a:ext cx="10580400" cy="0"/>
          </a:xfrm>
          <a:prstGeom prst="line">
            <a:avLst/>
          </a:prstGeom>
          <a:noFill/>
          <a:ln w="9525">
            <a:solidFill>
              <a:schemeClr val="accent2"/>
            </a:solidFill>
            <a:round/>
            <a:headEnd/>
            <a:tailEnd/>
          </a:ln>
          <a:effectLst/>
        </p:spPr>
        <p:txBody>
          <a:bodyPr/>
          <a:lstStyle/>
          <a:p>
            <a:endParaRPr lang="de-DE"/>
          </a:p>
        </p:txBody>
      </p:sp>
      <p:sp>
        <p:nvSpPr>
          <p:cNvPr id="4113" name="Rectangle 17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810000" y="5194301"/>
            <a:ext cx="10580400" cy="406265"/>
          </a:xfrm>
        </p:spPr>
        <p:txBody>
          <a:bodyPr>
            <a:spAutoFit/>
          </a:bodyPr>
          <a:lstStyle>
            <a:lvl1pPr marL="0" indent="0">
              <a:buFontTx/>
              <a:buNone/>
              <a:defRPr sz="2400"/>
            </a:lvl1pPr>
          </a:lstStyle>
          <a:p>
            <a:r>
              <a:rPr lang="de-DE"/>
              <a:t>Formatvorlage des Untertitelmasters durch Klicken bearbeiten</a:t>
            </a:r>
          </a:p>
        </p:txBody>
      </p:sp>
      <p:sp>
        <p:nvSpPr>
          <p:cNvPr id="4116" name="Rectangle 20"/>
          <p:cNvSpPr>
            <a:spLocks noGrp="1" noChangeArrowheads="1"/>
          </p:cNvSpPr>
          <p:nvPr>
            <p:ph type="ctrTitle" sz="quarter"/>
          </p:nvPr>
        </p:nvSpPr>
        <p:spPr>
          <a:xfrm>
            <a:off x="810000" y="4672014"/>
            <a:ext cx="10580400" cy="427037"/>
          </a:xfrm>
        </p:spPr>
        <p:txBody>
          <a:bodyPr/>
          <a:lstStyle>
            <a:lvl1pPr>
              <a:defRPr sz="2800">
                <a:solidFill>
                  <a:schemeClr val="tx2"/>
                </a:solidFill>
              </a:defRPr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4141" name="Rectangle 4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04001" y="927101"/>
            <a:ext cx="7286400" cy="184666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 sz="1200" b="1">
                <a:solidFill>
                  <a:schemeClr val="tx2"/>
                </a:solidFill>
              </a:defRPr>
            </a:lvl1pPr>
          </a:lstStyle>
          <a:p>
            <a:r>
              <a:rPr lang="de-DE"/>
              <a:t>&lt;Fachbereich/Institut/Lehrstuhl/Dezernatsabteilung&gt;</a:t>
            </a:r>
          </a:p>
        </p:txBody>
      </p:sp>
      <p:pic>
        <p:nvPicPr>
          <p:cNvPr id="11" name="Grafik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000" y="358775"/>
            <a:ext cx="2806700" cy="7214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46" descr="7mathnat">
            <a:extLst>
              <a:ext uri="{FF2B5EF4-FFF2-40B4-BE49-F238E27FC236}">
                <a16:creationId xmlns:a16="http://schemas.microsoft.com/office/drawing/2014/main" id="{9116EF16-B5B3-4280-87B8-8025F2DB605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9485" y="371475"/>
            <a:ext cx="4191000" cy="460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10000" y="918686"/>
            <a:ext cx="10580400" cy="369332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810000" y="1403906"/>
            <a:ext cx="10580400" cy="4718866"/>
          </a:xfrm>
        </p:spPr>
        <p:txBody>
          <a:bodyPr/>
          <a:lstStyle>
            <a:lvl1pPr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121200" y="284400"/>
            <a:ext cx="8269200" cy="369332"/>
          </a:xfrm>
        </p:spPr>
        <p:txBody>
          <a:bodyPr anchor="ctr" anchorCtr="0"/>
          <a:lstStyle>
            <a:lvl1pPr algn="r"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810000" y="1123200"/>
            <a:ext cx="10580400" cy="5000400"/>
          </a:xfrm>
        </p:spPr>
        <p:txBody>
          <a:bodyPr/>
          <a:lstStyle>
            <a:lvl1pPr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</p:spTree>
    <p:extLst>
      <p:ext uri="{BB962C8B-B14F-4D97-AF65-F5344CB8AC3E}">
        <p14:creationId xmlns:p14="http://schemas.microsoft.com/office/powerpoint/2010/main" val="35578083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121200" y="282714"/>
            <a:ext cx="8269200" cy="369332"/>
          </a:xfrm>
        </p:spPr>
        <p:txBody>
          <a:bodyPr anchor="ctr" anchorCtr="0"/>
          <a:lstStyle>
            <a:lvl1pPr algn="r"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810000" y="1124745"/>
            <a:ext cx="10580400" cy="5001419"/>
          </a:xfrm>
        </p:spPr>
        <p:txBody>
          <a:bodyPr/>
          <a:lstStyle>
            <a:lvl1pPr marL="180975" marR="0" indent="-180975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Char char="•"/>
              <a:tabLst/>
              <a:defRPr/>
            </a:lvl1pPr>
            <a:lvl2pPr marL="541338" marR="0" indent="-180975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FontTx/>
              <a:buChar char="-"/>
              <a:tabLst/>
              <a:defRPr/>
            </a:lvl2pPr>
            <a:lvl3pPr marL="895350" marR="0" indent="-174625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 typeface="Wingdings" pitchFamily="2" charset="2"/>
              <a:buChar char="§"/>
              <a:tabLst/>
              <a:defRPr/>
            </a:lvl3pPr>
            <a:lvl4pPr marL="1260475" marR="0" indent="-185738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Char char="•"/>
              <a:tabLst/>
              <a:defRPr sz="1400"/>
            </a:lvl4pPr>
            <a:lvl5pPr marL="1622425" marR="0" indent="-182563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Char char="-"/>
              <a:tabLst/>
              <a:defRPr lang="de-DE" sz="2000" dirty="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marL="0" lvl="4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80400" algn="r"/>
              </a:tabLst>
            </a:pPr>
            <a:r>
              <a:rPr lang="de-DE"/>
              <a:t>Gleichungen</a:t>
            </a:r>
          </a:p>
        </p:txBody>
      </p:sp>
    </p:spTree>
    <p:extLst>
      <p:ext uri="{BB962C8B-B14F-4D97-AF65-F5344CB8AC3E}">
        <p14:creationId xmlns:p14="http://schemas.microsoft.com/office/powerpoint/2010/main" val="4111450733"/>
      </p:ext>
    </p:extLst>
  </p:cSld>
  <p:clrMapOvr>
    <a:masterClrMapping/>
  </p:clrMapOvr>
  <p:hf hdr="0" ft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10000" y="4406900"/>
            <a:ext cx="10580400" cy="1231106"/>
          </a:xfrm>
        </p:spPr>
        <p:txBody>
          <a:bodyPr anchor="t"/>
          <a:lstStyle>
            <a:lvl1pPr algn="l">
              <a:defRPr sz="4000" b="1" cap="small" baseline="0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10000" y="2906713"/>
            <a:ext cx="10580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810000" y="1773239"/>
            <a:ext cx="5184400" cy="43529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97601" y="1773239"/>
            <a:ext cx="5192799" cy="4352925"/>
          </a:xfrm>
        </p:spPr>
        <p:txBody>
          <a:bodyPr/>
          <a:lstStyle>
            <a:lvl1pPr>
              <a:buClr>
                <a:schemeClr val="tx1"/>
              </a:buClr>
              <a:defRPr sz="2800"/>
            </a:lvl1pPr>
            <a:lvl2pPr>
              <a:buClr>
                <a:schemeClr val="tx1"/>
              </a:buClr>
              <a:defRPr sz="2400"/>
            </a:lvl2pPr>
            <a:lvl3pPr>
              <a:buClr>
                <a:schemeClr val="tx1"/>
              </a:buClr>
              <a:defRPr sz="2000"/>
            </a:lvl3pPr>
            <a:lvl4pPr>
              <a:buClr>
                <a:schemeClr val="tx1"/>
              </a:buClr>
              <a:defRPr sz="1800"/>
            </a:lvl4pPr>
            <a:lvl5pPr>
              <a:buClr>
                <a:schemeClr val="tx1"/>
              </a:buCl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10000" y="1048306"/>
            <a:ext cx="10580400" cy="369332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10000" y="1535113"/>
            <a:ext cx="51865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10000" y="2174875"/>
            <a:ext cx="51865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19703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19703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09999" y="819547"/>
            <a:ext cx="3810685" cy="615553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766733" y="819547"/>
            <a:ext cx="6585851" cy="530661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09999" y="1435101"/>
            <a:ext cx="3810686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2389717" y="5059561"/>
            <a:ext cx="7315200" cy="307777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2389717" y="908719"/>
            <a:ext cx="7315200" cy="381885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10651736" y="1292225"/>
            <a:ext cx="738664" cy="4833938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810000" y="1292225"/>
            <a:ext cx="9606480" cy="4833938"/>
          </a:xfrm>
        </p:spPr>
        <p:txBody>
          <a:bodyPr vert="eaVert"/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Line 8"/>
          <p:cNvSpPr>
            <a:spLocks noChangeShapeType="1"/>
          </p:cNvSpPr>
          <p:nvPr/>
        </p:nvSpPr>
        <p:spPr bwMode="auto">
          <a:xfrm>
            <a:off x="810000" y="809625"/>
            <a:ext cx="10580400" cy="0"/>
          </a:xfrm>
          <a:prstGeom prst="line">
            <a:avLst/>
          </a:prstGeom>
          <a:noFill/>
          <a:ln w="9525">
            <a:solidFill>
              <a:schemeClr val="accent2"/>
            </a:solidFill>
            <a:round/>
            <a:headEnd/>
            <a:tailEnd/>
          </a:ln>
          <a:effectLst/>
        </p:spPr>
        <p:txBody>
          <a:bodyPr/>
          <a:lstStyle/>
          <a:p>
            <a:endParaRPr lang="de-DE"/>
          </a:p>
        </p:txBody>
      </p:sp>
      <p:sp>
        <p:nvSpPr>
          <p:cNvPr id="3086" name="Rectangle 14"/>
          <p:cNvSpPr>
            <a:spLocks noGrp="1" noChangeArrowheads="1"/>
          </p:cNvSpPr>
          <p:nvPr>
            <p:ph type="title"/>
          </p:nvPr>
        </p:nvSpPr>
        <p:spPr bwMode="auto">
          <a:xfrm>
            <a:off x="810000" y="1288019"/>
            <a:ext cx="1058040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de-DE"/>
              <a:t>Titelmasterformat durch Klicken bearbeiten</a:t>
            </a:r>
          </a:p>
        </p:txBody>
      </p:sp>
      <p:sp>
        <p:nvSpPr>
          <p:cNvPr id="3089" name="Line 17"/>
          <p:cNvSpPr>
            <a:spLocks noChangeShapeType="1"/>
          </p:cNvSpPr>
          <p:nvPr userDrawn="1"/>
        </p:nvSpPr>
        <p:spPr bwMode="auto">
          <a:xfrm>
            <a:off x="810000" y="6315075"/>
            <a:ext cx="10580400" cy="0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/>
          </a:ln>
          <a:effectLst/>
        </p:spPr>
        <p:txBody>
          <a:bodyPr/>
          <a:lstStyle/>
          <a:p>
            <a:endParaRPr lang="de-DE"/>
          </a:p>
        </p:txBody>
      </p:sp>
      <p:sp>
        <p:nvSpPr>
          <p:cNvPr id="3095" name="Rectangle 23"/>
          <p:cNvSpPr>
            <a:spLocks noGrp="1" noChangeArrowheads="1"/>
          </p:cNvSpPr>
          <p:nvPr>
            <p:ph type="body" idx="1"/>
          </p:nvPr>
        </p:nvSpPr>
        <p:spPr bwMode="auto">
          <a:xfrm>
            <a:off x="810000" y="1773239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  <p:sp>
        <p:nvSpPr>
          <p:cNvPr id="3" name="Textfeld 2"/>
          <p:cNvSpPr txBox="1"/>
          <p:nvPr userDrawn="1"/>
        </p:nvSpPr>
        <p:spPr>
          <a:xfrm>
            <a:off x="810000" y="6518375"/>
            <a:ext cx="1058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 defTabSz="3587750" rtl="0" fontAlgn="base">
              <a:spcBef>
                <a:spcPct val="0"/>
              </a:spcBef>
              <a:spcAft>
                <a:spcPct val="0"/>
              </a:spcAft>
              <a:tabLst>
                <a:tab pos="10763250" algn="r"/>
              </a:tabLst>
            </a:pPr>
            <a:fld id="{23E27E3F-4BCF-444A-932B-61F1B2DC888B}" type="slidenum">
              <a:rPr lang="de-DE" sz="1000" kern="1200" smtClean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pPr algn="l" defTabSz="3587750" rtl="0" fontAlgn="base">
                <a:spcBef>
                  <a:spcPct val="0"/>
                </a:spcBef>
                <a:spcAft>
                  <a:spcPct val="0"/>
                </a:spcAft>
                <a:tabLst>
                  <a:tab pos="10763250" algn="r"/>
                </a:tabLst>
              </a:pPr>
              <a:t>‹Nr.›</a:t>
            </a:fld>
            <a:r>
              <a:rPr lang="de-DE" sz="1000" kern="120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 | Technische Informatik 1: Digitaltechnik	© 2023 Universität Tübingen</a:t>
            </a:r>
          </a:p>
        </p:txBody>
      </p:sp>
      <p:pic>
        <p:nvPicPr>
          <p:cNvPr id="9" name="Grafik 10"/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000" y="175569"/>
            <a:ext cx="1794089" cy="4610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61" r:id="rId3"/>
    <p:sldLayoutId id="2147483663" r:id="rId4"/>
    <p:sldLayoutId id="2147483662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9pPr>
    </p:titleStyle>
    <p:bodyStyle>
      <a:lvl1pPr marL="180975" indent="-180975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541338" indent="-180975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SzPct val="80000"/>
        <a:buChar char="-"/>
        <a:defRPr sz="2000">
          <a:solidFill>
            <a:schemeClr val="tx1"/>
          </a:solidFill>
          <a:latin typeface="+mn-lt"/>
        </a:defRPr>
      </a:lvl2pPr>
      <a:lvl3pPr marL="895350" indent="-174625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Wingdings" pitchFamily="2" charset="2"/>
        <a:buChar char="§"/>
        <a:defRPr sz="1600">
          <a:solidFill>
            <a:schemeClr val="tx1"/>
          </a:solidFill>
          <a:latin typeface="+mn-lt"/>
        </a:defRPr>
      </a:lvl3pPr>
      <a:lvl4pPr marL="1260475" indent="-185738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Char char="•"/>
        <a:defRPr sz="1400">
          <a:solidFill>
            <a:schemeClr val="tx1"/>
          </a:solidFill>
          <a:latin typeface="+mn-lt"/>
        </a:defRPr>
      </a:lvl4pPr>
      <a:lvl5pPr marL="0" indent="0" algn="l" rtl="0" eaLnBrk="1" fontAlgn="base" hangingPunct="1">
        <a:lnSpc>
          <a:spcPct val="110000"/>
        </a:lnSpc>
        <a:spcBef>
          <a:spcPts val="300"/>
        </a:spcBef>
        <a:spcAft>
          <a:spcPts val="300"/>
        </a:spcAft>
        <a:buClr>
          <a:schemeClr val="tx1"/>
        </a:buClr>
        <a:buFontTx/>
        <a:buNone/>
        <a:tabLst>
          <a:tab pos="5292000" algn="ctr"/>
          <a:tab pos="10512000" algn="r"/>
        </a:tabLst>
        <a:defRPr sz="2000">
          <a:solidFill>
            <a:schemeClr val="tx1"/>
          </a:solidFill>
          <a:latin typeface="+mn-lt"/>
        </a:defRPr>
      </a:lvl5pPr>
      <a:lvl6pPr marL="20796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6pPr>
      <a:lvl7pPr marL="25368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7pPr>
      <a:lvl8pPr marL="29940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8pPr>
      <a:lvl9pPr marL="34512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9"/>
          <p:cNvSpPr>
            <a:spLocks noGrp="1" noChangeArrowheads="1"/>
          </p:cNvSpPr>
          <p:nvPr>
            <p:ph type="dt" sz="half" idx="2"/>
          </p:nvPr>
        </p:nvSpPr>
        <p:spPr>
          <a:ln/>
        </p:spPr>
        <p:txBody>
          <a:bodyPr/>
          <a:lstStyle/>
          <a:p>
            <a:r>
              <a:rPr lang="de-DE" dirty="0"/>
              <a:t>11.02.2026, Prof. Dr. Oliver Bringmann</a:t>
            </a:r>
          </a:p>
        </p:txBody>
      </p:sp>
      <p:sp>
        <p:nvSpPr>
          <p:cNvPr id="5131" name="Rectangle 11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810000" y="5194301"/>
            <a:ext cx="10580400" cy="374718"/>
          </a:xfrm>
        </p:spPr>
        <p:txBody>
          <a:bodyPr/>
          <a:lstStyle/>
          <a:p>
            <a:r>
              <a:rPr lang="de-DE" dirty="0"/>
              <a:t>Probeklausur</a:t>
            </a:r>
          </a:p>
        </p:txBody>
      </p:sp>
      <p:sp>
        <p:nvSpPr>
          <p:cNvPr id="5130" name="Rectangle 10"/>
          <p:cNvSpPr>
            <a:spLocks noGrp="1" noChangeArrowheads="1"/>
          </p:cNvSpPr>
          <p:nvPr>
            <p:ph type="ctrTitle" sz="quarter"/>
          </p:nvPr>
        </p:nvSpPr>
        <p:spPr>
          <a:xfrm>
            <a:off x="810000" y="4645657"/>
            <a:ext cx="10580400" cy="453394"/>
          </a:xfrm>
        </p:spPr>
        <p:txBody>
          <a:bodyPr/>
          <a:lstStyle/>
          <a:p>
            <a:pPr>
              <a:lnSpc>
                <a:spcPct val="115000"/>
              </a:lnSpc>
              <a:spcBef>
                <a:spcPct val="25000"/>
              </a:spcBef>
            </a:pPr>
            <a:r>
              <a:rPr lang="en-US" dirty="0"/>
              <a:t>T</a:t>
            </a:r>
            <a:r>
              <a:rPr lang="de-DE" dirty="0"/>
              <a:t>echnische Informatik 1</a:t>
            </a:r>
          </a:p>
        </p:txBody>
      </p:sp>
      <p:sp>
        <p:nvSpPr>
          <p:cNvPr id="9" name="Rectangle 45"/>
          <p:cNvSpPr>
            <a:spLocks noGrp="1" noChangeArrowheads="1"/>
          </p:cNvSpPr>
          <p:nvPr>
            <p:ph type="ftr" sz="quarter" idx="3"/>
          </p:nvPr>
        </p:nvSpPr>
        <p:spPr>
          <a:ln/>
        </p:spPr>
        <p:txBody>
          <a:bodyPr/>
          <a:lstStyle/>
          <a:p>
            <a:r>
              <a:rPr lang="de-DE"/>
              <a:t>Eingebettete Systeme</a:t>
            </a:r>
          </a:p>
        </p:txBody>
      </p:sp>
      <p:sp>
        <p:nvSpPr>
          <p:cNvPr id="10" name="Rectangle 12">
            <a:extLst>
              <a:ext uri="{FF2B5EF4-FFF2-40B4-BE49-F238E27FC236}">
                <a16:creationId xmlns:a16="http://schemas.microsoft.com/office/drawing/2014/main" id="{4FA8B695-2367-4027-8967-B03690F27B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0000" y="3681414"/>
            <a:ext cx="10580400" cy="179387"/>
          </a:xfrm>
          <a:prstGeom prst="rect">
            <a:avLst/>
          </a:prstGeom>
          <a:solidFill>
            <a:schemeClr val="folHlink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de-DE"/>
          </a:p>
        </p:txBody>
      </p:sp>
      <p:pic>
        <p:nvPicPr>
          <p:cNvPr id="11" name="Bildplatzhalter 1">
            <a:extLst>
              <a:ext uri="{FF2B5EF4-FFF2-40B4-BE49-F238E27FC236}">
                <a16:creationId xmlns:a16="http://schemas.microsoft.com/office/drawing/2014/main" id="{71791FAB-6120-49AF-9B4E-4E676AE40D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61" b="6061"/>
          <a:stretch>
            <a:fillRect/>
          </a:stretch>
        </p:blipFill>
        <p:spPr>
          <a:xfrm>
            <a:off x="810000" y="1451410"/>
            <a:ext cx="7610962" cy="2230004"/>
          </a:xfrm>
          <a:prstGeom prst="rect">
            <a:avLst/>
          </a:prstGeom>
        </p:spPr>
      </p:pic>
      <p:pic>
        <p:nvPicPr>
          <p:cNvPr id="12" name="Picture 4" descr="http://www.intel.com/pressroom/images/processors/itanium/9300/TukwilaGlamour.jpg">
            <a:extLst>
              <a:ext uri="{FF2B5EF4-FFF2-40B4-BE49-F238E27FC236}">
                <a16:creationId xmlns:a16="http://schemas.microsoft.com/office/drawing/2014/main" id="{0E34FF33-25A5-45DB-8EA9-219CD00B9E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912379" y="1461444"/>
            <a:ext cx="3333287" cy="22213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8" descr="http://upload.wikimedia.org/wikipedia/commons/a/a6/Leaflabs_Maple_OSHW_with_STM32F103RBT6_MCU.jpg">
            <a:extLst>
              <a:ext uri="{FF2B5EF4-FFF2-40B4-BE49-F238E27FC236}">
                <a16:creationId xmlns:a16="http://schemas.microsoft.com/office/drawing/2014/main" id="{635EA845-8318-46FE-8BDF-19C686E69EB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46" t="23561" r="21055" b="23561"/>
          <a:stretch/>
        </p:blipFill>
        <p:spPr bwMode="auto">
          <a:xfrm flipH="1">
            <a:off x="3402513" y="1461444"/>
            <a:ext cx="2509865" cy="22213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81278638-B331-42FA-A0FB-9D3F44D564DA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15533"/>
          <a:stretch/>
        </p:blipFill>
        <p:spPr>
          <a:xfrm flipH="1">
            <a:off x="8956912" y="1461444"/>
            <a:ext cx="2433487" cy="2221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854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AD745B-E118-DF90-1A6B-73549ADF1C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1.1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F89A3222-6D0A-B583-3338-83DC8C4B38D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8760966"/>
              </p:ext>
            </p:extLst>
          </p:nvPr>
        </p:nvGraphicFramePr>
        <p:xfrm>
          <a:off x="809625" y="1773237"/>
          <a:ext cx="10580685" cy="2889554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302204">
                  <a:extLst>
                    <a:ext uri="{9D8B030D-6E8A-4147-A177-3AD203B41FA5}">
                      <a16:colId xmlns:a16="http://schemas.microsoft.com/office/drawing/2014/main" val="77739209"/>
                    </a:ext>
                  </a:extLst>
                </a:gridCol>
                <a:gridCol w="2449285">
                  <a:extLst>
                    <a:ext uri="{9D8B030D-6E8A-4147-A177-3AD203B41FA5}">
                      <a16:colId xmlns:a16="http://schemas.microsoft.com/office/drawing/2014/main" val="3652360773"/>
                    </a:ext>
                  </a:extLst>
                </a:gridCol>
                <a:gridCol w="2046515">
                  <a:extLst>
                    <a:ext uri="{9D8B030D-6E8A-4147-A177-3AD203B41FA5}">
                      <a16:colId xmlns:a16="http://schemas.microsoft.com/office/drawing/2014/main" val="3975084939"/>
                    </a:ext>
                  </a:extLst>
                </a:gridCol>
                <a:gridCol w="2318657">
                  <a:extLst>
                    <a:ext uri="{9D8B030D-6E8A-4147-A177-3AD203B41FA5}">
                      <a16:colId xmlns:a16="http://schemas.microsoft.com/office/drawing/2014/main" val="3336663794"/>
                    </a:ext>
                  </a:extLst>
                </a:gridCol>
                <a:gridCol w="2464024">
                  <a:extLst>
                    <a:ext uri="{9D8B030D-6E8A-4147-A177-3AD203B41FA5}">
                      <a16:colId xmlns:a16="http://schemas.microsoft.com/office/drawing/2014/main" val="2948349838"/>
                    </a:ext>
                  </a:extLst>
                </a:gridCol>
              </a:tblGrid>
              <a:tr h="603719">
                <a:tc>
                  <a:txBody>
                    <a:bodyPr/>
                    <a:lstStyle/>
                    <a:p>
                      <a:r>
                        <a:rPr lang="de-DE" dirty="0"/>
                        <a:t>Zahl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Vorzeichenlos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Vorzeichenbit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Einerkomplement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Zweierkomplement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8009295"/>
                  </a:ext>
                </a:extLst>
              </a:tr>
              <a:tr h="603719">
                <a:tc>
                  <a:txBody>
                    <a:bodyPr/>
                    <a:lstStyle/>
                    <a:p>
                      <a:r>
                        <a:rPr lang="de-DE" dirty="0"/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100101 = 32 + 4 + 1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7702699"/>
                  </a:ext>
                </a:extLst>
              </a:tr>
              <a:tr h="1042036">
                <a:tc>
                  <a:txBody>
                    <a:bodyPr/>
                    <a:lstStyle/>
                    <a:p>
                      <a:r>
                        <a:rPr lang="de-DE" dirty="0"/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100001 = -1 x (1)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111110, da 000001 =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111111 = -32 + 16 + 8 + 6 + 4 + 2 + 1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5527027"/>
                  </a:ext>
                </a:extLst>
              </a:tr>
              <a:tr h="603719">
                <a:tc>
                  <a:txBody>
                    <a:bodyPr/>
                    <a:lstStyle/>
                    <a:p>
                      <a:r>
                        <a:rPr lang="de-DE" dirty="0"/>
                        <a:t>-31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10000, da 011111 = 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100001 = -32 + 1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6399044"/>
                  </a:ext>
                </a:extLst>
              </a:tr>
            </a:tbl>
          </a:graphicData>
        </a:graphic>
      </p:graphicFrame>
      <p:sp>
        <p:nvSpPr>
          <p:cNvPr id="6" name="Textfeld 5">
            <a:extLst>
              <a:ext uri="{FF2B5EF4-FFF2-40B4-BE49-F238E27FC236}">
                <a16:creationId xmlns:a16="http://schemas.microsoft.com/office/drawing/2014/main" id="{7E33D22C-6212-FDEF-4425-51F6F27B5241}"/>
              </a:ext>
            </a:extLst>
          </p:cNvPr>
          <p:cNvSpPr txBox="1"/>
          <p:nvPr/>
        </p:nvSpPr>
        <p:spPr>
          <a:xfrm>
            <a:off x="809625" y="5050971"/>
            <a:ext cx="1043531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de-DE" dirty="0"/>
              <a:t>Denkt an den Betrag, den man maximal darstellen kann.</a:t>
            </a:r>
          </a:p>
          <a:p>
            <a:pPr marL="342900" indent="-342900">
              <a:buFont typeface="+mj-lt"/>
              <a:buAutoNum type="arabicPeriod"/>
            </a:pPr>
            <a:r>
              <a:rPr lang="de-DE" dirty="0"/>
              <a:t>Einerkomplement bildet man einfach über das Komplement der positiven Zahl.</a:t>
            </a:r>
          </a:p>
          <a:p>
            <a:pPr marL="342900" indent="-342900">
              <a:buFont typeface="+mj-lt"/>
              <a:buAutoNum type="arabicPeriod"/>
            </a:pPr>
            <a:r>
              <a:rPr lang="de-DE" dirty="0"/>
              <a:t>Ihr müsst das Zweierkomplement bilden und damit rechnen können.</a:t>
            </a:r>
          </a:p>
        </p:txBody>
      </p:sp>
    </p:spTree>
    <p:extLst>
      <p:ext uri="{BB962C8B-B14F-4D97-AF65-F5344CB8AC3E}">
        <p14:creationId xmlns:p14="http://schemas.microsoft.com/office/powerpoint/2010/main" val="553676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1691926-9E76-A14D-77E0-1D9FD8900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1.2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Inhaltsplatzhalter 3">
                <a:extLst>
                  <a:ext uri="{FF2B5EF4-FFF2-40B4-BE49-F238E27FC236}">
                    <a16:creationId xmlns:a16="http://schemas.microsoft.com/office/drawing/2014/main" id="{64B3C915-26EC-64D1-934B-ECD91534D7CD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776702303"/>
                  </p:ext>
                </p:extLst>
              </p:nvPr>
            </p:nvGraphicFramePr>
            <p:xfrm>
              <a:off x="809625" y="1773238"/>
              <a:ext cx="10580688" cy="185420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3526896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2374642796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Relation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88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&gt;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88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76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 &lt;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122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𝐴𝐶</m:t>
                                    </m:r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=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101011000100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&gt;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33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Inhaltsplatzhalter 3">
                <a:extLst>
                  <a:ext uri="{FF2B5EF4-FFF2-40B4-BE49-F238E27FC236}">
                    <a16:creationId xmlns:a16="http://schemas.microsoft.com/office/drawing/2014/main" id="{64B3C915-26EC-64D1-934B-ECD91534D7CD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776702303"/>
                  </p:ext>
                </p:extLst>
              </p:nvPr>
            </p:nvGraphicFramePr>
            <p:xfrm>
              <a:off x="809625" y="1773238"/>
              <a:ext cx="10580688" cy="185420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3526896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2374642796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Relation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73" t="-108197" r="-200691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&gt;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108197" r="-691" b="-3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73" t="-204839" r="-200691" b="-2193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 &lt;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204839" r="-691" b="-2193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73" t="-309836" r="-200691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=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309836" r="-691" b="-1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73" t="-409836" r="-200691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&gt;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409836" r="-691" b="-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93EBFF3E-187A-B009-AC56-79D7C676CBAA}"/>
                  </a:ext>
                </a:extLst>
              </p:cNvPr>
              <p:cNvSpPr txBox="1"/>
              <p:nvPr/>
            </p:nvSpPr>
            <p:spPr>
              <a:xfrm>
                <a:off x="809625" y="4147457"/>
                <a:ext cx="10580688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de-DE" dirty="0"/>
                  <a:t>Bei der gleichen Zahl gewinnt die höhere Basis.</a:t>
                </a:r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122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=64+2 ∗8+1=81</m:t>
                    </m:r>
                  </m:oMath>
                </a14:m>
                <a:endParaRPr lang="de-DE" dirty="0"/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𝐴𝐶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16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1010 1100 0100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dirty="0"/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66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=6 ∗8+6 ∗1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≠3 ∗16+3</m:t>
                    </m:r>
                  </m:oMath>
                </a14:m>
                <a:endParaRPr lang="de-DE" dirty="0"/>
              </a:p>
            </p:txBody>
          </p:sp>
        </mc:Choice>
        <mc:Fallback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93EBFF3E-187A-B009-AC56-79D7C676CB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9625" y="4147457"/>
                <a:ext cx="10580688" cy="1200329"/>
              </a:xfrm>
              <a:prstGeom prst="rect">
                <a:avLst/>
              </a:prstGeom>
              <a:blipFill>
                <a:blip r:embed="rId3"/>
                <a:stretch>
                  <a:fillRect l="-461" t="-2538" b="-60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94376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D0365C6-A437-06FB-CD96-FC7C41317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1.3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61AFA42-045E-7C8E-4B68-7D93C937EE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10000" y="1773239"/>
                <a:ext cx="10580400" cy="1655761"/>
              </a:xfrm>
            </p:spPr>
            <p:txBody>
              <a:bodyPr/>
              <a:lstStyle/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=−27= 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1110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0101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sz="2800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2800" b="0" i="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de-DE" sz="2800" i="1">
                        <a:latin typeface="Cambria Math" panose="02040503050406030204" pitchFamily="18" charset="0"/>
                      </a:rPr>
                      <m:t>=−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13</m:t>
                    </m:r>
                    <m:r>
                      <a:rPr lang="de-DE" sz="2800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1111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0011</m:t>
                        </m:r>
                      </m:e>
                      <m: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sz="2800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1110 0101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11110011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11011000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sz="2800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11011000</m:t>
                        </m:r>
                      </m:e>
                      <m: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=−128+64+16+8=−40</m:t>
                    </m:r>
                  </m:oMath>
                </a14:m>
                <a:endParaRPr lang="de-DE" sz="2800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61AFA42-045E-7C8E-4B68-7D93C937EE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0000" y="1773239"/>
                <a:ext cx="10580400" cy="1655761"/>
              </a:xfrm>
              <a:blipFill>
                <a:blip r:embed="rId2"/>
                <a:stretch>
                  <a:fillRect t="-625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4097275"/>
      </p:ext>
    </p:extLst>
  </p:cSld>
  <p:clrMapOvr>
    <a:masterClrMapping/>
  </p:clrMapOvr>
</p:sld>
</file>

<file path=ppt/theme/theme1.xml><?xml version="1.0" encoding="utf-8"?>
<a:theme xmlns:a="http://schemas.openxmlformats.org/drawingml/2006/main" name="UT_pptmaster_mathnat">
  <a:themeElements>
    <a:clrScheme name="Uni Tübingen inkl. Sekundarfarben">
      <a:dk1>
        <a:srgbClr val="333333"/>
      </a:dk1>
      <a:lt1>
        <a:srgbClr val="FFFFFF"/>
      </a:lt1>
      <a:dk2>
        <a:srgbClr val="A51E37"/>
      </a:dk2>
      <a:lt2>
        <a:srgbClr val="2D2015"/>
      </a:lt2>
      <a:accent1>
        <a:srgbClr val="BFBFBF"/>
      </a:accent1>
      <a:accent2>
        <a:srgbClr val="B4A069"/>
      </a:accent2>
      <a:accent3>
        <a:srgbClr val="415A8C"/>
      </a:accent3>
      <a:accent4>
        <a:srgbClr val="A51E37"/>
      </a:accent4>
      <a:accent5>
        <a:srgbClr val="326E1E"/>
      </a:accent5>
      <a:accent6>
        <a:srgbClr val="D29600"/>
      </a:accent6>
      <a:hlink>
        <a:srgbClr val="32414B"/>
      </a:hlink>
      <a:folHlink>
        <a:srgbClr val="A51E37"/>
      </a:folHlink>
    </a:clrScheme>
    <a:fontScheme name="UT_TITE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 w="12700"/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UT_TITEL 1">
        <a:dk1>
          <a:srgbClr val="333333"/>
        </a:dk1>
        <a:lt1>
          <a:srgbClr val="FFFFFF"/>
        </a:lt1>
        <a:dk2>
          <a:srgbClr val="A51E37"/>
        </a:dk2>
        <a:lt2>
          <a:srgbClr val="2D2015"/>
        </a:lt2>
        <a:accent1>
          <a:srgbClr val="ADB3B7"/>
        </a:accent1>
        <a:accent2>
          <a:srgbClr val="B4A069"/>
        </a:accent2>
        <a:accent3>
          <a:srgbClr val="FFFFFF"/>
        </a:accent3>
        <a:accent4>
          <a:srgbClr val="2A2A2A"/>
        </a:accent4>
        <a:accent5>
          <a:srgbClr val="D3D6D8"/>
        </a:accent5>
        <a:accent6>
          <a:srgbClr val="A3915E"/>
        </a:accent6>
        <a:hlink>
          <a:srgbClr val="32414B"/>
        </a:hlink>
        <a:folHlink>
          <a:srgbClr val="A51E37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799F1A435591F42BCDE2557FA51CDDA" ma:contentTypeVersion="15" ma:contentTypeDescription="Create a new document." ma:contentTypeScope="" ma:versionID="baa9c65a0a545f65583643df3cf8d9f4">
  <xsd:schema xmlns:xsd="http://www.w3.org/2001/XMLSchema" xmlns:xs="http://www.w3.org/2001/XMLSchema" xmlns:p="http://schemas.microsoft.com/office/2006/metadata/properties" xmlns:ns2="f957fcc5-14ca-4ecf-9842-9f00d595875c" xmlns:ns3="e08cfc56-8307-41e5-898e-b333c51beffa" targetNamespace="http://schemas.microsoft.com/office/2006/metadata/properties" ma:root="true" ma:fieldsID="015d39312a6521742bc57e13b2dae392" ns2:_="" ns3:_="">
    <xsd:import namespace="f957fcc5-14ca-4ecf-9842-9f00d595875c"/>
    <xsd:import namespace="e08cfc56-8307-41e5-898e-b333c51beff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bjectDetectorVersion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957fcc5-14ca-4ecf-9842-9f00d595875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bde38a42-f053-4c2a-847a-0f3502bf1da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08cfc56-8307-41e5-898e-b333c51beffa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5567681e-1cf4-4a75-82d6-426285e8dab8}" ma:internalName="TaxCatchAll" ma:showField="CatchAllData" ma:web="e08cfc56-8307-41e5-898e-b333c51beff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e08cfc56-8307-41e5-898e-b333c51beffa" xsi:nil="true"/>
    <lcf76f155ced4ddcb4097134ff3c332f xmlns="f957fcc5-14ca-4ecf-9842-9f00d595875c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6F35E4A-19A6-42ED-B9B2-B9FDCAD1EAA1}">
  <ds:schemaRefs>
    <ds:schemaRef ds:uri="e08cfc56-8307-41e5-898e-b333c51beffa"/>
    <ds:schemaRef ds:uri="f957fcc5-14ca-4ecf-9842-9f00d595875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01C86142-AC43-4D34-9C61-6017C7A1D49D}">
  <ds:schemaRefs>
    <ds:schemaRef ds:uri="e08cfc56-8307-41e5-898e-b333c51beffa"/>
    <ds:schemaRef ds:uri="f957fcc5-14ca-4ecf-9842-9f00d595875c"/>
    <ds:schemaRef ds:uri="http://schemas.openxmlformats.org/package/2006/metadata/core-properties"/>
    <ds:schemaRef ds:uri="http://purl.org/dc/elements/1.1/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http://schemas.microsoft.com/office/2006/metadata/properties"/>
    <ds:schemaRef ds:uri="http://purl.org/dc/dcmitype/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AC48F4C2-72FB-464C-8474-E470A160399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188</Words>
  <Application>Microsoft Office PowerPoint</Application>
  <PresentationFormat>Breitbild</PresentationFormat>
  <Paragraphs>53</Paragraphs>
  <Slides>4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8" baseType="lpstr">
      <vt:lpstr>Arial</vt:lpstr>
      <vt:lpstr>Cambria Math</vt:lpstr>
      <vt:lpstr>Wingdings</vt:lpstr>
      <vt:lpstr>UT_pptmaster_mathnat</vt:lpstr>
      <vt:lpstr>Technische Informatik 1</vt:lpstr>
      <vt:lpstr>Aufgabe 1.1</vt:lpstr>
      <vt:lpstr>Aufgabe 1.2</vt:lpstr>
      <vt:lpstr>Aufgabe 1.3</vt:lpstr>
    </vt:vector>
  </TitlesOfParts>
  <Company>Hewlett-Packard Company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Sebastian Burg;bringman@fzi.de;Rudi Seidl</dc:creator>
  <cp:lastModifiedBy>adam könig</cp:lastModifiedBy>
  <cp:revision>22</cp:revision>
  <cp:lastPrinted>2023-11-29T22:31:04Z</cp:lastPrinted>
  <dcterms:created xsi:type="dcterms:W3CDTF">2012-05-03T09:32:35Z</dcterms:created>
  <dcterms:modified xsi:type="dcterms:W3CDTF">2026-02-06T20:34:49Z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0x0101008799F1A435591F42BCDE2557FA51CDDA</vt:lpwstr>
  </property>
  <property fmtid="{D5CDD505-2E9C-101B-9397-08002B2CF9AE}" pid="3" name="MediaServiceImageTags">
    <vt:lpwstr/>
  </property>
</Properties>
</file>