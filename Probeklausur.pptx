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26"/>
  </p:notesMasterIdLst>
  <p:handoutMasterIdLst>
    <p:handoutMasterId r:id="rId27"/>
  </p:handoutMasterIdLst>
  <p:sldIdLst>
    <p:sldId id="1041" r:id="rId5"/>
    <p:sldId id="1043" r:id="rId6"/>
    <p:sldId id="1044" r:id="rId7"/>
    <p:sldId id="1045" r:id="rId8"/>
    <p:sldId id="1046" r:id="rId9"/>
    <p:sldId id="1047" r:id="rId10"/>
    <p:sldId id="1050" r:id="rId11"/>
    <p:sldId id="1051" r:id="rId12"/>
    <p:sldId id="1052" r:id="rId13"/>
    <p:sldId id="1053" r:id="rId14"/>
    <p:sldId id="1063" r:id="rId15"/>
    <p:sldId id="1064" r:id="rId16"/>
    <p:sldId id="1054" r:id="rId17"/>
    <p:sldId id="1055" r:id="rId18"/>
    <p:sldId id="1056" r:id="rId19"/>
    <p:sldId id="1057" r:id="rId20"/>
    <p:sldId id="1058" r:id="rId21"/>
    <p:sldId id="1059" r:id="rId22"/>
    <p:sldId id="1060" r:id="rId23"/>
    <p:sldId id="1061" r:id="rId24"/>
    <p:sldId id="1062" r:id="rId25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0CC2B19-0152-48C4-9776-5E1C93263B9D}">
          <p14:sldIdLst>
            <p14:sldId id="1041"/>
            <p14:sldId id="1043"/>
            <p14:sldId id="1044"/>
            <p14:sldId id="1045"/>
            <p14:sldId id="1046"/>
            <p14:sldId id="1047"/>
            <p14:sldId id="1050"/>
            <p14:sldId id="1051"/>
            <p14:sldId id="1052"/>
            <p14:sldId id="1053"/>
            <p14:sldId id="1063"/>
            <p14:sldId id="1064"/>
            <p14:sldId id="1054"/>
            <p14:sldId id="1055"/>
            <p14:sldId id="1056"/>
            <p14:sldId id="1057"/>
            <p14:sldId id="1058"/>
            <p14:sldId id="1059"/>
            <p14:sldId id="1060"/>
            <p14:sldId id="1061"/>
            <p14:sldId id="1062"/>
          </p14:sldIdLst>
        </p14:section>
        <p14:section name="Standardabschnitt" id="{43259912-C5ED-4E84-8ACD-EEBCC30AE9A6}">
          <p14:sldIdLst/>
        </p14:section>
        <p14:section name="Standardabschnitt" id="{5377919E-FBA0-4639-A934-3356EF227BF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A682"/>
    <a:srgbClr val="19AB73"/>
    <a:srgbClr val="C38AD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A013C-0C4C-7CC9-3073-C215768A4D35}" v="422" dt="2026-02-08T21:59:01.042"/>
    <p1510:client id="{CF275D93-1AF9-5CD7-90BA-CB7126BBAC7F}" v="818" dt="2026-02-09T10:32:47.950"/>
    <p1510:client id="{D9D7A87D-DE7C-D9BF-B02E-6FFACE30470C}" v="1" dt="2026-02-08T22:04:55.1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Gitternetz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Keine Formatvorlage, Tabellengitternetz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51"/>
  </p:normalViewPr>
  <p:slideViewPr>
    <p:cSldViewPr snapToGrid="0">
      <p:cViewPr varScale="1">
        <p:scale>
          <a:sx n="105" d="100"/>
          <a:sy n="105" d="100"/>
        </p:scale>
        <p:origin x="63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9C6125-75A0-455B-936B-E52DC9776EF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0449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de-DE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de-DE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5D100B-8FB0-4F45-A8C0-3F8C65FEE5C2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44575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5D100B-8FB0-4F45-A8C0-3F8C65FEE5C2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587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0000" y="6172200"/>
            <a:ext cx="10580400" cy="254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fld id="{30B1EE28-4F67-4416-A18C-74FB63371EF5}" type="datetime1">
              <a:rPr lang="de-DE"/>
              <a:pPr/>
              <a:t>09.02.2026</a:t>
            </a:fld>
            <a:r>
              <a:rPr lang="de-DE"/>
              <a:t>, Verfasser [optional] / 16 pt / Zeilenabstand 1-fach</a:t>
            </a:r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810000" y="1258888"/>
            <a:ext cx="10580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411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10000" y="5194301"/>
            <a:ext cx="10580400" cy="406265"/>
          </a:xfrm>
        </p:spPr>
        <p:txBody>
          <a:bodyPr>
            <a:spAutoFit/>
          </a:bodyPr>
          <a:lstStyle>
            <a:lvl1pPr marL="0" indent="0">
              <a:buFontTx/>
              <a:buNone/>
              <a:defRPr sz="2400"/>
            </a:lvl1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116" name="Rectangle 20"/>
          <p:cNvSpPr>
            <a:spLocks noGrp="1" noChangeArrowheads="1"/>
          </p:cNvSpPr>
          <p:nvPr>
            <p:ph type="ctrTitle" sz="quarter"/>
          </p:nvPr>
        </p:nvSpPr>
        <p:spPr>
          <a:xfrm>
            <a:off x="810000" y="4672014"/>
            <a:ext cx="10580400" cy="427037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4141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04001" y="927101"/>
            <a:ext cx="7286400" cy="18466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200" b="1">
                <a:solidFill>
                  <a:schemeClr val="tx2"/>
                </a:solidFill>
              </a:defRPr>
            </a:lvl1pPr>
          </a:lstStyle>
          <a:p>
            <a:r>
              <a:rPr lang="de-DE"/>
              <a:t>&lt;Fachbereich/Institut/Lehrstuhl/Dezernatsabteilung&gt;</a:t>
            </a:r>
          </a:p>
        </p:txBody>
      </p:sp>
      <p:pic>
        <p:nvPicPr>
          <p:cNvPr id="11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0" y="358775"/>
            <a:ext cx="2806700" cy="721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6" descr="7mathnat">
            <a:extLst>
              <a:ext uri="{FF2B5EF4-FFF2-40B4-BE49-F238E27FC236}">
                <a16:creationId xmlns:a16="http://schemas.microsoft.com/office/drawing/2014/main" id="{9116EF16-B5B3-4280-87B8-8025F2DB60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9485" y="371475"/>
            <a:ext cx="4191000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Gleichungen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10000" y="918686"/>
            <a:ext cx="10580400" cy="36933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10000" y="1403906"/>
            <a:ext cx="10580400" cy="4718866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Gleichungen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121200" y="284400"/>
            <a:ext cx="8269200" cy="369332"/>
          </a:xfrm>
        </p:spPr>
        <p:txBody>
          <a:bodyPr anchor="ctr" anchorCtr="0"/>
          <a:lstStyle>
            <a:lvl1pPr algn="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10000" y="1123200"/>
            <a:ext cx="10580400" cy="5000400"/>
          </a:xfrm>
        </p:spPr>
        <p:txBody>
          <a:bodyPr/>
          <a:lstStyle>
            <a:lvl1pPr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Gleichungen</a:t>
            </a:r>
          </a:p>
        </p:txBody>
      </p:sp>
    </p:spTree>
    <p:extLst>
      <p:ext uri="{BB962C8B-B14F-4D97-AF65-F5344CB8AC3E}">
        <p14:creationId xmlns:p14="http://schemas.microsoft.com/office/powerpoint/2010/main" val="3557808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121200" y="282714"/>
            <a:ext cx="8269200" cy="369332"/>
          </a:xfrm>
        </p:spPr>
        <p:txBody>
          <a:bodyPr anchor="ctr" anchorCtr="0"/>
          <a:lstStyle>
            <a:lvl1pPr algn="r"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810000" y="1124745"/>
            <a:ext cx="10580400" cy="5001419"/>
          </a:xfrm>
        </p:spPr>
        <p:txBody>
          <a:bodyPr/>
          <a:lstStyle>
            <a:lvl1pPr marL="180975" marR="0" indent="-18097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/>
            </a:lvl1pPr>
            <a:lvl2pPr marL="541338" marR="0" indent="-18097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FontTx/>
              <a:buChar char="-"/>
              <a:tabLst/>
              <a:defRPr/>
            </a:lvl2pPr>
            <a:lvl3pPr marL="895350" marR="0" indent="-174625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Char char="§"/>
              <a:tabLst/>
              <a:defRPr/>
            </a:lvl3pPr>
            <a:lvl4pPr marL="1260475" marR="0" indent="-185738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•"/>
              <a:tabLst/>
              <a:defRPr sz="1400"/>
            </a:lvl4pPr>
            <a:lvl5pPr marL="1622425" marR="0" indent="-182563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Char char="-"/>
              <a:tabLst/>
              <a:defRPr lang="de-DE" sz="2000" dirty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marL="0" lvl="4" indent="0" algn="l" rtl="0" eaLnBrk="1" fontAlgn="base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Tx/>
              <a:buNone/>
              <a:tabLst>
                <a:tab pos="5292000" algn="ctr"/>
                <a:tab pos="10580400" algn="r"/>
              </a:tabLst>
            </a:pPr>
            <a:r>
              <a:rPr lang="de-DE"/>
              <a:t>Gleichungen</a:t>
            </a:r>
          </a:p>
        </p:txBody>
      </p:sp>
    </p:spTree>
    <p:extLst>
      <p:ext uri="{BB962C8B-B14F-4D97-AF65-F5344CB8AC3E}">
        <p14:creationId xmlns:p14="http://schemas.microsoft.com/office/powerpoint/2010/main" val="4111450733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10000" y="4406900"/>
            <a:ext cx="10580400" cy="1231106"/>
          </a:xfrm>
        </p:spPr>
        <p:txBody>
          <a:bodyPr anchor="t"/>
          <a:lstStyle>
            <a:lvl1pPr algn="l">
              <a:defRPr sz="4000" b="1" cap="small" baseline="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10000" y="2906713"/>
            <a:ext cx="10580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10000" y="1773239"/>
            <a:ext cx="5184400" cy="4352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1" y="1773239"/>
            <a:ext cx="5192799" cy="4352925"/>
          </a:xfrm>
        </p:spPr>
        <p:txBody>
          <a:bodyPr/>
          <a:lstStyle>
            <a:lvl1pPr>
              <a:buClr>
                <a:schemeClr val="tx1"/>
              </a:buClr>
              <a:defRPr sz="2800"/>
            </a:lvl1pPr>
            <a:lvl2pPr>
              <a:buClr>
                <a:schemeClr val="tx1"/>
              </a:buClr>
              <a:defRPr sz="2400"/>
            </a:lvl2pPr>
            <a:lvl3pPr>
              <a:buClr>
                <a:schemeClr val="tx1"/>
              </a:buClr>
              <a:defRPr sz="2000"/>
            </a:lvl3pPr>
            <a:lvl4pPr>
              <a:buClr>
                <a:schemeClr val="tx1"/>
              </a:buClr>
              <a:defRPr sz="1800"/>
            </a:lvl4pPr>
            <a:lvl5pPr>
              <a:buClr>
                <a:schemeClr val="tx1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10000" y="1048306"/>
            <a:ext cx="10580400" cy="36933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10000" y="1535113"/>
            <a:ext cx="51865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10000" y="2174875"/>
            <a:ext cx="51865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1970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1970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9999" y="819547"/>
            <a:ext cx="3810685" cy="615553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819547"/>
            <a:ext cx="6585851" cy="530661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09999" y="1435101"/>
            <a:ext cx="381068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908719"/>
            <a:ext cx="7315200" cy="38188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10651736" y="1292225"/>
            <a:ext cx="738664" cy="48339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10000" y="1292225"/>
            <a:ext cx="9606480" cy="4833938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810000" y="809625"/>
            <a:ext cx="10580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86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810000" y="1288019"/>
            <a:ext cx="10580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3089" name="Line 17"/>
          <p:cNvSpPr>
            <a:spLocks noChangeShapeType="1"/>
          </p:cNvSpPr>
          <p:nvPr userDrawn="1"/>
        </p:nvSpPr>
        <p:spPr bwMode="auto">
          <a:xfrm>
            <a:off x="810000" y="6315075"/>
            <a:ext cx="10580400" cy="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95" name="Rectangle 2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0000" y="1773239"/>
            <a:ext cx="105804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Gleichungen</a:t>
            </a:r>
          </a:p>
        </p:txBody>
      </p:sp>
      <p:sp>
        <p:nvSpPr>
          <p:cNvPr id="3" name="Textfeld 2"/>
          <p:cNvSpPr txBox="1"/>
          <p:nvPr userDrawn="1"/>
        </p:nvSpPr>
        <p:spPr>
          <a:xfrm>
            <a:off x="810000" y="6518375"/>
            <a:ext cx="105804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3587750" rtl="0" fontAlgn="base">
              <a:spcBef>
                <a:spcPct val="0"/>
              </a:spcBef>
              <a:spcAft>
                <a:spcPct val="0"/>
              </a:spcAft>
              <a:tabLst>
                <a:tab pos="10763250" algn="r"/>
              </a:tabLst>
            </a:pPr>
            <a:fld id="{23E27E3F-4BCF-444A-932B-61F1B2DC888B}" type="slidenum">
              <a:rPr lang="de-DE" sz="10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pPr algn="l" defTabSz="3587750" rtl="0" fontAlgn="base">
                <a:spcBef>
                  <a:spcPct val="0"/>
                </a:spcBef>
                <a:spcAft>
                  <a:spcPct val="0"/>
                </a:spcAft>
                <a:tabLst>
                  <a:tab pos="10763250" algn="r"/>
                </a:tabLst>
              </a:pPr>
              <a:t>‹#›</a:t>
            </a:fld>
            <a:r>
              <a:rPr lang="de-DE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| Technische Informatik 1: Digitaltechnik	© 2023 Universität Tübingen</a:t>
            </a:r>
          </a:p>
        </p:txBody>
      </p:sp>
      <p:pic>
        <p:nvPicPr>
          <p:cNvPr id="9" name="Grafik 10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0" y="175569"/>
            <a:ext cx="1794089" cy="461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61" r:id="rId3"/>
    <p:sldLayoutId id="2147483663" r:id="rId4"/>
    <p:sldLayoutId id="2147483662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2"/>
          </a:solidFill>
          <a:latin typeface="Arial" charset="0"/>
        </a:defRPr>
      </a:lvl9pPr>
    </p:titleStyle>
    <p:bodyStyle>
      <a:lvl1pPr marL="180975" indent="-18097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18097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-"/>
        <a:defRPr sz="2000">
          <a:solidFill>
            <a:schemeClr val="tx1"/>
          </a:solidFill>
          <a:latin typeface="+mn-lt"/>
        </a:defRPr>
      </a:lvl2pPr>
      <a:lvl3pPr marL="895350" indent="-174625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3pPr>
      <a:lvl4pPr marL="1260475" indent="-185738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Char char="•"/>
        <a:defRPr sz="1400">
          <a:solidFill>
            <a:schemeClr val="tx1"/>
          </a:solidFill>
          <a:latin typeface="+mn-lt"/>
        </a:defRPr>
      </a:lvl4pPr>
      <a:lvl5pPr marL="0" indent="0" algn="l" rtl="0" eaLnBrk="1" fontAlgn="base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1"/>
        </a:buClr>
        <a:buFontTx/>
        <a:buNone/>
        <a:tabLst>
          <a:tab pos="5292000" algn="ctr"/>
          <a:tab pos="10512000" algn="r"/>
        </a:tabLst>
        <a:defRPr sz="2000">
          <a:solidFill>
            <a:schemeClr val="tx1"/>
          </a:solidFill>
          <a:latin typeface="+mn-lt"/>
        </a:defRPr>
      </a:lvl5pPr>
      <a:lvl6pPr marL="2079625" indent="-18256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-"/>
        <a:defRPr sz="1200">
          <a:solidFill>
            <a:schemeClr val="tx1"/>
          </a:solidFill>
          <a:latin typeface="+mn-lt"/>
        </a:defRPr>
      </a:lvl6pPr>
      <a:lvl7pPr marL="2536825" indent="-18256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-"/>
        <a:defRPr sz="1200">
          <a:solidFill>
            <a:schemeClr val="tx1"/>
          </a:solidFill>
          <a:latin typeface="+mn-lt"/>
        </a:defRPr>
      </a:lvl7pPr>
      <a:lvl8pPr marL="2994025" indent="-18256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-"/>
        <a:defRPr sz="1200">
          <a:solidFill>
            <a:schemeClr val="tx1"/>
          </a:solidFill>
          <a:latin typeface="+mn-lt"/>
        </a:defRPr>
      </a:lvl8pPr>
      <a:lvl9pPr marL="3451225" indent="-182563" algn="l" rtl="0" eaLnBrk="1" fontAlgn="base" hangingPunct="1">
        <a:lnSpc>
          <a:spcPct val="110000"/>
        </a:lnSpc>
        <a:spcBef>
          <a:spcPct val="0"/>
        </a:spcBef>
        <a:spcAft>
          <a:spcPct val="0"/>
        </a:spcAft>
        <a:buChar char="-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/>
          <p:cNvSpPr>
            <a:spLocks noGrp="1" noChangeArrowheads="1"/>
          </p:cNvSpPr>
          <p:nvPr>
            <p:ph type="dt" sz="half" idx="2"/>
          </p:nvPr>
        </p:nvSpPr>
        <p:spPr>
          <a:ln/>
        </p:spPr>
        <p:txBody>
          <a:bodyPr/>
          <a:lstStyle/>
          <a:p>
            <a:r>
              <a:rPr lang="de-DE" dirty="0"/>
              <a:t>11.02.2026, Prof. Dr. Oliver Bringmann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10000" y="5194301"/>
            <a:ext cx="10580400" cy="374718"/>
          </a:xfrm>
        </p:spPr>
        <p:txBody>
          <a:bodyPr/>
          <a:lstStyle/>
          <a:p>
            <a:r>
              <a:rPr lang="de-DE" dirty="0"/>
              <a:t>Probeklausur</a:t>
            </a:r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810000" y="4645657"/>
            <a:ext cx="10580400" cy="453394"/>
          </a:xfrm>
        </p:spPr>
        <p:txBody>
          <a:bodyPr/>
          <a:lstStyle/>
          <a:p>
            <a:pPr>
              <a:lnSpc>
                <a:spcPct val="115000"/>
              </a:lnSpc>
              <a:spcBef>
                <a:spcPct val="25000"/>
              </a:spcBef>
            </a:pPr>
            <a:r>
              <a:rPr lang="en-US" dirty="0"/>
              <a:t>T</a:t>
            </a:r>
            <a:r>
              <a:rPr lang="de-DE" dirty="0"/>
              <a:t>echnische Informatik 1</a:t>
            </a:r>
          </a:p>
        </p:txBody>
      </p:sp>
      <p:sp>
        <p:nvSpPr>
          <p:cNvPr id="9" name="Rectangle 45"/>
          <p:cNvSpPr>
            <a:spLocks noGrp="1" noChangeArrowheads="1"/>
          </p:cNvSpPr>
          <p:nvPr>
            <p:ph type="ftr" sz="quarter" idx="3"/>
          </p:nvPr>
        </p:nvSpPr>
        <p:spPr>
          <a:ln/>
        </p:spPr>
        <p:txBody>
          <a:bodyPr/>
          <a:lstStyle/>
          <a:p>
            <a:r>
              <a:rPr lang="de-DE"/>
              <a:t>Eingebettete Systeme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4FA8B695-2367-4027-8967-B03690F27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00" y="3681414"/>
            <a:ext cx="10580400" cy="179387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pic>
        <p:nvPicPr>
          <p:cNvPr id="11" name="Bildplatzhalter 1">
            <a:extLst>
              <a:ext uri="{FF2B5EF4-FFF2-40B4-BE49-F238E27FC236}">
                <a16:creationId xmlns:a16="http://schemas.microsoft.com/office/drawing/2014/main" id="{71791FAB-6120-49AF-9B4E-4E676AE40D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1" b="6061"/>
          <a:stretch>
            <a:fillRect/>
          </a:stretch>
        </p:blipFill>
        <p:spPr>
          <a:xfrm>
            <a:off x="810000" y="1451410"/>
            <a:ext cx="7610962" cy="2230004"/>
          </a:xfrm>
          <a:prstGeom prst="rect">
            <a:avLst/>
          </a:prstGeom>
        </p:spPr>
      </p:pic>
      <p:pic>
        <p:nvPicPr>
          <p:cNvPr id="12" name="Picture 4" descr="http://www.intel.com/pressroom/images/processors/itanium/9300/TukwilaGlamour.jpg">
            <a:extLst>
              <a:ext uri="{FF2B5EF4-FFF2-40B4-BE49-F238E27FC236}">
                <a16:creationId xmlns:a16="http://schemas.microsoft.com/office/drawing/2014/main" id="{0E34FF33-25A5-45DB-8EA9-219CD00B9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12379" y="1461444"/>
            <a:ext cx="3333287" cy="222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http://upload.wikimedia.org/wikipedia/commons/a/a6/Leaflabs_Maple_OSHW_with_STM32F103RBT6_MCU.jpg">
            <a:extLst>
              <a:ext uri="{FF2B5EF4-FFF2-40B4-BE49-F238E27FC236}">
                <a16:creationId xmlns:a16="http://schemas.microsoft.com/office/drawing/2014/main" id="{635EA845-8318-46FE-8BDF-19C686E69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6" t="23561" r="21055" b="23561"/>
          <a:stretch/>
        </p:blipFill>
        <p:spPr bwMode="auto">
          <a:xfrm flipH="1">
            <a:off x="3402513" y="1461444"/>
            <a:ext cx="2509865" cy="222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1278638-B331-42FA-A0FB-9D3F44D564D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533"/>
          <a:stretch/>
        </p:blipFill>
        <p:spPr>
          <a:xfrm flipH="1">
            <a:off x="8956912" y="1461444"/>
            <a:ext cx="2433487" cy="22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54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AD745B-E118-DF90-1A6B-73549ADF1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1.1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F89A3222-6D0A-B583-3338-83DC8C4B3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760966"/>
              </p:ext>
            </p:extLst>
          </p:nvPr>
        </p:nvGraphicFramePr>
        <p:xfrm>
          <a:off x="809625" y="1773237"/>
          <a:ext cx="10580685" cy="288955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02204">
                  <a:extLst>
                    <a:ext uri="{9D8B030D-6E8A-4147-A177-3AD203B41FA5}">
                      <a16:colId xmlns:a16="http://schemas.microsoft.com/office/drawing/2014/main" val="77739209"/>
                    </a:ext>
                  </a:extLst>
                </a:gridCol>
                <a:gridCol w="2449285">
                  <a:extLst>
                    <a:ext uri="{9D8B030D-6E8A-4147-A177-3AD203B41FA5}">
                      <a16:colId xmlns:a16="http://schemas.microsoft.com/office/drawing/2014/main" val="3652360773"/>
                    </a:ext>
                  </a:extLst>
                </a:gridCol>
                <a:gridCol w="2046515">
                  <a:extLst>
                    <a:ext uri="{9D8B030D-6E8A-4147-A177-3AD203B41FA5}">
                      <a16:colId xmlns:a16="http://schemas.microsoft.com/office/drawing/2014/main" val="3975084939"/>
                    </a:ext>
                  </a:extLst>
                </a:gridCol>
                <a:gridCol w="2318657">
                  <a:extLst>
                    <a:ext uri="{9D8B030D-6E8A-4147-A177-3AD203B41FA5}">
                      <a16:colId xmlns:a16="http://schemas.microsoft.com/office/drawing/2014/main" val="3336663794"/>
                    </a:ext>
                  </a:extLst>
                </a:gridCol>
                <a:gridCol w="2464024">
                  <a:extLst>
                    <a:ext uri="{9D8B030D-6E8A-4147-A177-3AD203B41FA5}">
                      <a16:colId xmlns:a16="http://schemas.microsoft.com/office/drawing/2014/main" val="2948349838"/>
                    </a:ext>
                  </a:extLst>
                </a:gridCol>
              </a:tblGrid>
              <a:tr h="603719">
                <a:tc>
                  <a:txBody>
                    <a:bodyPr/>
                    <a:lstStyle/>
                    <a:p>
                      <a:r>
                        <a:rPr lang="de-DE" dirty="0"/>
                        <a:t>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Vorzeichenlos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Vorzeichenbit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Einerkomplement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Zweierkomplement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009295"/>
                  </a:ext>
                </a:extLst>
              </a:tr>
              <a:tr h="603719">
                <a:tc>
                  <a:txBody>
                    <a:bodyPr/>
                    <a:lstStyle/>
                    <a:p>
                      <a:r>
                        <a:rPr lang="de-DE" dirty="0"/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100101 = 32 + 4 + 1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702699"/>
                  </a:ext>
                </a:extLst>
              </a:tr>
              <a:tr h="1042036">
                <a:tc>
                  <a:txBody>
                    <a:bodyPr/>
                    <a:lstStyle/>
                    <a:p>
                      <a:r>
                        <a:rPr lang="de-DE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100001 = -1 x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111110, da 000001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111111 = -32 + 16 + 8 + 6 + 4 + 2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527027"/>
                  </a:ext>
                </a:extLst>
              </a:tr>
              <a:tr h="603719">
                <a:tc>
                  <a:txBody>
                    <a:bodyPr/>
                    <a:lstStyle/>
                    <a:p>
                      <a:r>
                        <a:rPr lang="de-DE" dirty="0"/>
                        <a:t>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10000, da 011111 = 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100001 = -32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99044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7E33D22C-6212-FDEF-4425-51F6F27B5241}"/>
              </a:ext>
            </a:extLst>
          </p:cNvPr>
          <p:cNvSpPr txBox="1"/>
          <p:nvPr/>
        </p:nvSpPr>
        <p:spPr>
          <a:xfrm>
            <a:off x="809625" y="5050971"/>
            <a:ext cx="104353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Denkt an den Betrag, den man maximal darstellen kann.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Einerkomplement bildet man einfach über das Komplement der positiven Zahl.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Ihr müsst das Zweierkomplement bilden und damit rechnen können.</a:t>
            </a:r>
          </a:p>
        </p:txBody>
      </p:sp>
    </p:spTree>
    <p:extLst>
      <p:ext uri="{BB962C8B-B14F-4D97-AF65-F5344CB8AC3E}">
        <p14:creationId xmlns:p14="http://schemas.microsoft.com/office/powerpoint/2010/main" val="55367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91926-9E76-A14D-77E0-1D9FD890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64B3C915-26EC-64D1-934B-ECD91534D7C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76702303"/>
                  </p:ext>
                </p:extLst>
              </p:nvPr>
            </p:nvGraphicFramePr>
            <p:xfrm>
              <a:off x="809625" y="1773238"/>
              <a:ext cx="10580688" cy="18542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526896">
                      <a:extLst>
                        <a:ext uri="{9D8B030D-6E8A-4147-A177-3AD203B41FA5}">
                          <a16:colId xmlns:a16="http://schemas.microsoft.com/office/drawing/2014/main" val="1652158833"/>
                        </a:ext>
                      </a:extLst>
                    </a:gridCol>
                    <a:gridCol w="3526896">
                      <a:extLst>
                        <a:ext uri="{9D8B030D-6E8A-4147-A177-3AD203B41FA5}">
                          <a16:colId xmlns:a16="http://schemas.microsoft.com/office/drawing/2014/main" val="2374642796"/>
                        </a:ext>
                      </a:extLst>
                    </a:gridCol>
                    <a:gridCol w="3526896">
                      <a:extLst>
                        <a:ext uri="{9D8B030D-6E8A-4147-A177-3AD203B41FA5}">
                          <a16:colId xmlns:a16="http://schemas.microsoft.com/office/drawing/2014/main" val="41734930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Relation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499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88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88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6797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76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 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122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270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𝐴𝐶</m:t>
                                    </m:r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101011000100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8478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66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01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Inhaltsplatzhalter 3">
                <a:extLst>
                  <a:ext uri="{FF2B5EF4-FFF2-40B4-BE49-F238E27FC236}">
                    <a16:creationId xmlns:a16="http://schemas.microsoft.com/office/drawing/2014/main" id="{64B3C915-26EC-64D1-934B-ECD91534D7CD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76702303"/>
                  </p:ext>
                </p:extLst>
              </p:nvPr>
            </p:nvGraphicFramePr>
            <p:xfrm>
              <a:off x="809625" y="1773238"/>
              <a:ext cx="10580688" cy="18542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3526896">
                      <a:extLst>
                        <a:ext uri="{9D8B030D-6E8A-4147-A177-3AD203B41FA5}">
                          <a16:colId xmlns:a16="http://schemas.microsoft.com/office/drawing/2014/main" val="1652158833"/>
                        </a:ext>
                      </a:extLst>
                    </a:gridCol>
                    <a:gridCol w="3526896">
                      <a:extLst>
                        <a:ext uri="{9D8B030D-6E8A-4147-A177-3AD203B41FA5}">
                          <a16:colId xmlns:a16="http://schemas.microsoft.com/office/drawing/2014/main" val="2374642796"/>
                        </a:ext>
                      </a:extLst>
                    </a:gridCol>
                    <a:gridCol w="3526896">
                      <a:extLst>
                        <a:ext uri="{9D8B030D-6E8A-4147-A177-3AD203B41FA5}">
                          <a16:colId xmlns:a16="http://schemas.microsoft.com/office/drawing/2014/main" val="41734930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Relation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499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73" t="-108197" r="-200691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173" t="-108197" r="-691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6797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73" t="-204839" r="-200691" b="-2193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 &lt;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173" t="-204839" r="-691" b="-2193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270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73" t="-309836" r="-20069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173" t="-309836" r="-691" b="-1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8478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73" t="-409836" r="-20069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dirty="0"/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00173" t="-409836" r="-691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012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3EBFF3E-187A-B009-AC56-79D7C676CBAA}"/>
                  </a:ext>
                </a:extLst>
              </p:cNvPr>
              <p:cNvSpPr txBox="1"/>
              <p:nvPr/>
            </p:nvSpPr>
            <p:spPr>
              <a:xfrm>
                <a:off x="809625" y="4147457"/>
                <a:ext cx="105806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de-DE" dirty="0"/>
                  <a:t>Bei der gleichen Zahl gewinnt die höhere Basis.</a:t>
                </a: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122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=64+2 ∗8+1=81</m:t>
                    </m:r>
                  </m:oMath>
                </a14:m>
                <a:endParaRPr lang="de-DE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𝐴𝐶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1010 1100 0100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dirty="0"/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66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=6 ∗8+6 ∗1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≠3 ∗16+3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3EBFF3E-187A-B009-AC56-79D7C676C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5" y="4147457"/>
                <a:ext cx="10580688" cy="1200329"/>
              </a:xfrm>
              <a:prstGeom prst="rect">
                <a:avLst/>
              </a:prstGeom>
              <a:blipFill>
                <a:blip r:embed="rId3"/>
                <a:stretch>
                  <a:fillRect l="-461" t="-2538" b="-6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437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365C6-A437-06FB-CD96-FC7C4131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1.3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1AFA42-045E-7C8E-4B68-7D93C937EE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00" y="1773239"/>
                <a:ext cx="10580400" cy="1655761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=−27= 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1110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0101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28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8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de-DE" sz="2800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1111</m:t>
                        </m:r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0011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sz="28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1110 0101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11110011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11011000</m:t>
                        </m:r>
                      </m:e>
                      <m:sub>
                        <m:r>
                          <a:rPr lang="de-DE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sz="28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11011000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2800" b="0" i="1" smtClean="0">
                        <a:latin typeface="Cambria Math" panose="02040503050406030204" pitchFamily="18" charset="0"/>
                      </a:rPr>
                      <m:t>=−128+64+16+8=−40</m:t>
                    </m:r>
                  </m:oMath>
                </a14:m>
                <a:endParaRPr lang="de-DE" sz="2800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61AFA42-045E-7C8E-4B68-7D93C937E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00" y="1773239"/>
                <a:ext cx="10580400" cy="1655761"/>
              </a:xfrm>
              <a:blipFill>
                <a:blip r:embed="rId2"/>
                <a:stretch>
                  <a:fillRect t="-62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09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85989-7B55-F54A-5703-96922D40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330B63-6E08-452B-76BE-DB1C8B90ED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 ∨(</m:t>
                          </m:r>
                          <m:acc>
                            <m:accPr>
                              <m:chr m:val="̅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acc>
                            <m:accPr>
                              <m:chr m:val="̅"/>
                              <m:ctrlP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acc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acc>
                    </m:oMath>
                  </m:oMathPara>
                </a14:m>
                <a:endParaRPr lang="de-DE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 ∨(</m:t>
                        </m:r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endParaRPr lang="de-DE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∨(</m:t>
                    </m:r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de-DE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∨0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330B63-6E08-452B-76BE-DB1C8B90ED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12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9CD29-5B57-C9EC-FDD2-20A4CC4C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F999D7-5B8C-1EA8-8C8C-0A6268D707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acc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∨</m:t>
                              </m:r>
                              <m:acc>
                                <m:accPr>
                                  <m:chr m:val="̅"/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acc>
                            <m:accPr>
                              <m:chr m:val="̅"/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de-DE" b="0" dirty="0">
                  <a:ea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∨</m:t>
                            </m:r>
                            <m:acc>
                              <m:accPr>
                                <m:chr m:val="̅"/>
                                <m:ctrlP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acc>
                          <m:accPr>
                            <m:chr m:val="̅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EF999D7-5B8C-1EA8-8C8C-0A6268D707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324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3A8C-5D51-A15E-3500-B39601C36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DFFC3-21E4-FE58-5643-FC461C94D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3.1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834434-46D8-8169-D511-9D75F950E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a)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F19C1194-D512-59B2-523E-66BF75255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95170" y="1576992"/>
            <a:ext cx="40100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5E91B6-76E9-51B8-36C3-86ED6BBDB4F9}"/>
              </a:ext>
            </a:extLst>
          </p:cNvPr>
          <p:cNvSpPr txBox="1"/>
          <p:nvPr/>
        </p:nvSpPr>
        <p:spPr>
          <a:xfrm>
            <a:off x="5456731" y="2955867"/>
            <a:ext cx="2746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>
                <a:latin typeface="Arial"/>
                <a:cs typeface="Arial"/>
              </a:rPr>
              <a:t>*</a:t>
            </a:r>
            <a:endParaRPr lang="en-GB" sz="3200" dirty="0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CC331-FF69-69BF-C7DF-80F905F21287}"/>
              </a:ext>
            </a:extLst>
          </p:cNvPr>
          <p:cNvSpPr txBox="1"/>
          <p:nvPr/>
        </p:nvSpPr>
        <p:spPr>
          <a:xfrm>
            <a:off x="5941671" y="2908416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F0D07-7C60-E0FB-48C1-927CA23351F8}"/>
              </a:ext>
            </a:extLst>
          </p:cNvPr>
          <p:cNvSpPr txBox="1"/>
          <p:nvPr/>
        </p:nvSpPr>
        <p:spPr>
          <a:xfrm>
            <a:off x="6554773" y="2908415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7A129-3052-C33B-14A7-D1FE426047BD}"/>
              </a:ext>
            </a:extLst>
          </p:cNvPr>
          <p:cNvSpPr txBox="1"/>
          <p:nvPr/>
        </p:nvSpPr>
        <p:spPr>
          <a:xfrm>
            <a:off x="7202909" y="2908414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EDDAB1-7AED-E4FD-0ED5-BA1B2B7D9743}"/>
              </a:ext>
            </a:extLst>
          </p:cNvPr>
          <p:cNvSpPr txBox="1"/>
          <p:nvPr/>
        </p:nvSpPr>
        <p:spPr>
          <a:xfrm>
            <a:off x="7202908" y="3539034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F5CB92-7896-F983-D4BB-378381E0F4C7}"/>
              </a:ext>
            </a:extLst>
          </p:cNvPr>
          <p:cNvSpPr txBox="1"/>
          <p:nvPr/>
        </p:nvSpPr>
        <p:spPr>
          <a:xfrm>
            <a:off x="6589804" y="3539033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08D9F1-6A02-3CF2-BF7F-0056D63A83D2}"/>
              </a:ext>
            </a:extLst>
          </p:cNvPr>
          <p:cNvSpPr txBox="1"/>
          <p:nvPr/>
        </p:nvSpPr>
        <p:spPr>
          <a:xfrm>
            <a:off x="5941665" y="3539032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1470D8-C28C-6153-2E31-23B2B4804C96}"/>
              </a:ext>
            </a:extLst>
          </p:cNvPr>
          <p:cNvSpPr txBox="1"/>
          <p:nvPr/>
        </p:nvSpPr>
        <p:spPr>
          <a:xfrm>
            <a:off x="5328561" y="3539031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495DEC-D92B-9098-8EE9-FADCBCE080D7}"/>
              </a:ext>
            </a:extLst>
          </p:cNvPr>
          <p:cNvSpPr txBox="1"/>
          <p:nvPr/>
        </p:nvSpPr>
        <p:spPr>
          <a:xfrm>
            <a:off x="5328560" y="4195927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61823D-D42B-5D56-236E-BCC50E29AF50}"/>
              </a:ext>
            </a:extLst>
          </p:cNvPr>
          <p:cNvSpPr txBox="1"/>
          <p:nvPr/>
        </p:nvSpPr>
        <p:spPr>
          <a:xfrm>
            <a:off x="5941663" y="4195926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BC92C1-0A9A-5EEF-B14A-526C3C90441F}"/>
              </a:ext>
            </a:extLst>
          </p:cNvPr>
          <p:cNvSpPr txBox="1"/>
          <p:nvPr/>
        </p:nvSpPr>
        <p:spPr>
          <a:xfrm>
            <a:off x="6554766" y="4195925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E25EEF-D057-064F-4AF7-8DEE647E18E5}"/>
              </a:ext>
            </a:extLst>
          </p:cNvPr>
          <p:cNvSpPr txBox="1"/>
          <p:nvPr/>
        </p:nvSpPr>
        <p:spPr>
          <a:xfrm>
            <a:off x="7202903" y="4219827"/>
            <a:ext cx="6076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dirty="0">
                <a:latin typeface="Arial"/>
                <a:cs typeface="Arial"/>
              </a:rPr>
              <a:t>*</a:t>
            </a:r>
            <a:endParaRPr lang="en-GB" sz="2000" dirty="0">
              <a:cs typeface="Arial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6BCE47-04F1-8183-65AE-B712574817C8}"/>
              </a:ext>
            </a:extLst>
          </p:cNvPr>
          <p:cNvSpPr txBox="1"/>
          <p:nvPr/>
        </p:nvSpPr>
        <p:spPr>
          <a:xfrm>
            <a:off x="7202902" y="4800268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A4D55A-244B-A60C-96EC-E72DD58F2F2E}"/>
              </a:ext>
            </a:extLst>
          </p:cNvPr>
          <p:cNvSpPr txBox="1"/>
          <p:nvPr/>
        </p:nvSpPr>
        <p:spPr>
          <a:xfrm>
            <a:off x="6589798" y="4800267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BF1959-F8DB-CADF-FAEE-38D591B9EF63}"/>
              </a:ext>
            </a:extLst>
          </p:cNvPr>
          <p:cNvSpPr txBox="1"/>
          <p:nvPr/>
        </p:nvSpPr>
        <p:spPr>
          <a:xfrm>
            <a:off x="5976694" y="4800266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AA6D3D3-2866-519A-141C-F3449518AEDB}"/>
              </a:ext>
            </a:extLst>
          </p:cNvPr>
          <p:cNvSpPr txBox="1"/>
          <p:nvPr/>
        </p:nvSpPr>
        <p:spPr>
          <a:xfrm>
            <a:off x="5363590" y="4800265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816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202E-5B88-1FDD-43F9-5805B3DA8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CA97A-7303-4D36-1C9D-18B63B253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3.1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12FB34-0072-D926-E12A-906CEA3B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a)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87F6649-1C4C-01D1-2F55-28722CB22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12687" y="1550716"/>
            <a:ext cx="401006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4F0549-4CA7-8937-B070-11B238BA2344}"/>
              </a:ext>
            </a:extLst>
          </p:cNvPr>
          <p:cNvSpPr txBox="1"/>
          <p:nvPr/>
        </p:nvSpPr>
        <p:spPr>
          <a:xfrm>
            <a:off x="6122276" y="3573183"/>
            <a:ext cx="2746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>
                <a:latin typeface="Arial"/>
                <a:cs typeface="Arial"/>
              </a:rPr>
              <a:t>*</a:t>
            </a:r>
            <a:endParaRPr lang="en-GB" sz="32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66A90F-255D-BBE2-E4FE-6E8C0A3CAE54}"/>
              </a:ext>
            </a:extLst>
          </p:cNvPr>
          <p:cNvSpPr txBox="1"/>
          <p:nvPr/>
        </p:nvSpPr>
        <p:spPr>
          <a:xfrm>
            <a:off x="5324355" y="2908416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B9CB3-7A84-8450-8957-9363EE9B9D3B}"/>
              </a:ext>
            </a:extLst>
          </p:cNvPr>
          <p:cNvSpPr txBox="1"/>
          <p:nvPr/>
        </p:nvSpPr>
        <p:spPr>
          <a:xfrm>
            <a:off x="6554773" y="2908415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5449C4-9B79-36A6-55A1-56B9EF4CF786}"/>
              </a:ext>
            </a:extLst>
          </p:cNvPr>
          <p:cNvSpPr txBox="1"/>
          <p:nvPr/>
        </p:nvSpPr>
        <p:spPr>
          <a:xfrm>
            <a:off x="7202909" y="2908414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7A043B-4F45-D658-3897-BB14D46318E3}"/>
              </a:ext>
            </a:extLst>
          </p:cNvPr>
          <p:cNvSpPr txBox="1"/>
          <p:nvPr/>
        </p:nvSpPr>
        <p:spPr>
          <a:xfrm>
            <a:off x="6589804" y="3539033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23B58-FE4C-754D-D2CB-29A3C0A97CBD}"/>
              </a:ext>
            </a:extLst>
          </p:cNvPr>
          <p:cNvSpPr txBox="1"/>
          <p:nvPr/>
        </p:nvSpPr>
        <p:spPr>
          <a:xfrm>
            <a:off x="5970602" y="2912070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ECBB0E-FB9A-1EB8-EFBD-443A7687B5A4}"/>
              </a:ext>
            </a:extLst>
          </p:cNvPr>
          <p:cNvSpPr txBox="1"/>
          <p:nvPr/>
        </p:nvSpPr>
        <p:spPr>
          <a:xfrm>
            <a:off x="5328561" y="3539031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43AF71-FEA0-E061-A979-3A58EFF0FD7F}"/>
              </a:ext>
            </a:extLst>
          </p:cNvPr>
          <p:cNvSpPr txBox="1"/>
          <p:nvPr/>
        </p:nvSpPr>
        <p:spPr>
          <a:xfrm>
            <a:off x="5328560" y="4195927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720BB7-5A6D-9158-01D2-D332F6A00EDA}"/>
              </a:ext>
            </a:extLst>
          </p:cNvPr>
          <p:cNvSpPr txBox="1"/>
          <p:nvPr/>
        </p:nvSpPr>
        <p:spPr>
          <a:xfrm>
            <a:off x="5941663" y="4195926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9257CA-00C2-098D-906C-C9A16ADF55AF}"/>
              </a:ext>
            </a:extLst>
          </p:cNvPr>
          <p:cNvSpPr txBox="1"/>
          <p:nvPr/>
        </p:nvSpPr>
        <p:spPr>
          <a:xfrm>
            <a:off x="7201019" y="4195925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4291ED-7704-C31B-6A6B-7E0F220FF9FA}"/>
              </a:ext>
            </a:extLst>
          </p:cNvPr>
          <p:cNvSpPr txBox="1"/>
          <p:nvPr/>
        </p:nvSpPr>
        <p:spPr>
          <a:xfrm>
            <a:off x="6595232" y="4200536"/>
            <a:ext cx="6076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dirty="0">
                <a:latin typeface="Arial"/>
                <a:cs typeface="Arial"/>
              </a:rPr>
              <a:t>*</a:t>
            </a:r>
            <a:endParaRPr lang="en-GB" sz="2000" dirty="0">
              <a:cs typeface="Arial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BB120-EDBC-C25E-D75E-BC15F8173BC0}"/>
              </a:ext>
            </a:extLst>
          </p:cNvPr>
          <p:cNvSpPr txBox="1"/>
          <p:nvPr/>
        </p:nvSpPr>
        <p:spPr>
          <a:xfrm>
            <a:off x="7202902" y="4800268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4402B67-472A-E0EB-19EB-4FD283E1B466}"/>
              </a:ext>
            </a:extLst>
          </p:cNvPr>
          <p:cNvSpPr txBox="1"/>
          <p:nvPr/>
        </p:nvSpPr>
        <p:spPr>
          <a:xfrm>
            <a:off x="6589798" y="4800267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GB" dirty="0">
              <a:cs typeface="Arial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300943-6812-ABA0-F87D-5FB1CE5CA0C9}"/>
              </a:ext>
            </a:extLst>
          </p:cNvPr>
          <p:cNvSpPr txBox="1"/>
          <p:nvPr/>
        </p:nvSpPr>
        <p:spPr>
          <a:xfrm>
            <a:off x="5976694" y="4800266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latin typeface="Arial"/>
                <a:cs typeface="Arial"/>
              </a:rPr>
              <a:t>0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D54441-BC1E-3A06-02F1-C284E009B72A}"/>
              </a:ext>
            </a:extLst>
          </p:cNvPr>
          <p:cNvSpPr txBox="1"/>
          <p:nvPr/>
        </p:nvSpPr>
        <p:spPr>
          <a:xfrm>
            <a:off x="5363590" y="4800265"/>
            <a:ext cx="607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dirty="0">
                <a:cs typeface="Arial"/>
              </a:rPr>
              <a:t>1</a:t>
            </a:r>
            <a:endParaRPr lang="en-GB" dirty="0"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69D7DF-DDBF-6C5B-759F-EA2181DAFD31}"/>
              </a:ext>
            </a:extLst>
          </p:cNvPr>
          <p:cNvSpPr txBox="1"/>
          <p:nvPr/>
        </p:nvSpPr>
        <p:spPr>
          <a:xfrm>
            <a:off x="7222193" y="3573573"/>
            <a:ext cx="60767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400" dirty="0">
                <a:latin typeface="Arial"/>
                <a:cs typeface="Arial"/>
              </a:rPr>
              <a:t>*</a:t>
            </a:r>
            <a:endParaRPr lang="en-GB" sz="20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673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3A24E-A6AC-D9C2-DC88-8D8841D0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11167A-45ED-F823-18F7-E2D322E7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3.1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9CC80F-28D4-5CB3-E2CE-0C184859C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b)</a:t>
            </a:r>
          </a:p>
        </p:txBody>
      </p:sp>
      <p:pic>
        <p:nvPicPr>
          <p:cNvPr id="6" name="Picture 5" descr="A grid of numbers and symbols&#10;&#10;AI-generated content may be incorrect.">
            <a:extLst>
              <a:ext uri="{FF2B5EF4-FFF2-40B4-BE49-F238E27FC236}">
                <a16:creationId xmlns:a16="http://schemas.microsoft.com/office/drawing/2014/main" id="{C5359BD6-3716-127C-6B47-A72C8BB8C8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73" t="1556" r="-183"/>
          <a:stretch>
            <a:fillRect/>
          </a:stretch>
        </p:blipFill>
        <p:spPr>
          <a:xfrm>
            <a:off x="3631195" y="865690"/>
            <a:ext cx="4929595" cy="471193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B96E57C-0EA6-7A57-F1A5-778D2C38B064}"/>
              </a:ext>
            </a:extLst>
          </p:cNvPr>
          <p:cNvSpPr/>
          <p:nvPr/>
        </p:nvSpPr>
        <p:spPr>
          <a:xfrm>
            <a:off x="5222232" y="2352674"/>
            <a:ext cx="673260" cy="2939968"/>
          </a:xfrm>
          <a:prstGeom prst="roundRect">
            <a:avLst/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680A90-76C8-0511-79F0-C5AC332D2A14}"/>
              </a:ext>
            </a:extLst>
          </p:cNvPr>
          <p:cNvSpPr/>
          <p:nvPr/>
        </p:nvSpPr>
        <p:spPr>
          <a:xfrm>
            <a:off x="6022814" y="2381610"/>
            <a:ext cx="1406323" cy="1367741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B573C8D-03A0-B4A9-CDBC-D7B55730E179}"/>
              </a:ext>
            </a:extLst>
          </p:cNvPr>
          <p:cNvSpPr/>
          <p:nvPr/>
        </p:nvSpPr>
        <p:spPr>
          <a:xfrm>
            <a:off x="6765522" y="2358881"/>
            <a:ext cx="673260" cy="2939968"/>
          </a:xfrm>
          <a:prstGeom prst="round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50B69E-F381-9C0B-BF43-8B4B49042B4C}"/>
              </a:ext>
            </a:extLst>
          </p:cNvPr>
          <p:cNvSpPr/>
          <p:nvPr/>
        </p:nvSpPr>
        <p:spPr>
          <a:xfrm>
            <a:off x="6804105" y="3886318"/>
            <a:ext cx="1435259" cy="6250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BDE187-52BA-1B59-04C9-D44A31DCE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60" y="5708007"/>
            <a:ext cx="737235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0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B940-026F-E484-3F4F-52ABB7D1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id of numbers and letters&#10;&#10;AI-generated content may be incorrect.">
            <a:extLst>
              <a:ext uri="{FF2B5EF4-FFF2-40B4-BE49-F238E27FC236}">
                <a16:creationId xmlns:a16="http://schemas.microsoft.com/office/drawing/2014/main" id="{D724A065-72F8-EB05-EE34-5028B2C64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956" y="980110"/>
            <a:ext cx="4769736" cy="45794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BDFEE2C-ABEC-3F8E-2458-41DE7476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3.1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EBD01C-B180-5F37-09FC-6FBEB00E8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b)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BD8FDF-502B-F16B-4576-A0B8FA1BB406}"/>
              </a:ext>
            </a:extLst>
          </p:cNvPr>
          <p:cNvSpPr/>
          <p:nvPr/>
        </p:nvSpPr>
        <p:spPr>
          <a:xfrm>
            <a:off x="6022814" y="2381610"/>
            <a:ext cx="1406323" cy="1367741"/>
          </a:xfrm>
          <a:prstGeom prst="roundRect">
            <a:avLst/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088859-044B-33F3-6524-7A5827CDD6BB}"/>
              </a:ext>
            </a:extLst>
          </p:cNvPr>
          <p:cNvSpPr/>
          <p:nvPr/>
        </p:nvSpPr>
        <p:spPr>
          <a:xfrm>
            <a:off x="6726941" y="2371964"/>
            <a:ext cx="1444905" cy="1377385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82BF0B-C577-07D8-2731-265D9C2A2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19" y="5708007"/>
            <a:ext cx="5810250" cy="419100"/>
          </a:xfrm>
          <a:prstGeom prst="rect">
            <a:avLst/>
          </a:prstGeom>
        </p:spPr>
      </p:pic>
      <p:sp>
        <p:nvSpPr>
          <p:cNvPr id="14" name="Right Bracket 13">
            <a:extLst>
              <a:ext uri="{FF2B5EF4-FFF2-40B4-BE49-F238E27FC236}">
                <a16:creationId xmlns:a16="http://schemas.microsoft.com/office/drawing/2014/main" id="{7C7AEB39-754A-289C-A57A-AE96D32BE786}"/>
              </a:ext>
            </a:extLst>
          </p:cNvPr>
          <p:cNvSpPr/>
          <p:nvPr/>
        </p:nvSpPr>
        <p:spPr>
          <a:xfrm rot="-5400000">
            <a:off x="5266592" y="4709744"/>
            <a:ext cx="556846" cy="627186"/>
          </a:xfrm>
          <a:prstGeom prst="rightBracke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C1EA404C-9570-CDEB-B589-7FA4E017C090}"/>
              </a:ext>
            </a:extLst>
          </p:cNvPr>
          <p:cNvSpPr/>
          <p:nvPr/>
        </p:nvSpPr>
        <p:spPr>
          <a:xfrm rot="5400000">
            <a:off x="5272454" y="2312376"/>
            <a:ext cx="556846" cy="627186"/>
          </a:xfrm>
          <a:prstGeom prst="rightBracket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6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70E80-5302-A39B-EC5C-BD4AD411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193CB-A82F-0CD1-8A45-A6C664A45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3.2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8A46F8-0AEB-C5EE-978A-F13D3155B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a)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C5A8A79-AEF8-D90F-BBA7-8A5EB167A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1313" y="1371600"/>
            <a:ext cx="3524133" cy="4664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ECDB47-0156-01D2-EFC5-81FFA71FFAB3}"/>
              </a:ext>
            </a:extLst>
          </p:cNvPr>
          <p:cNvSpPr/>
          <p:nvPr/>
        </p:nvSpPr>
        <p:spPr>
          <a:xfrm>
            <a:off x="5465179" y="5740077"/>
            <a:ext cx="1647462" cy="383893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156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CA663-33F4-74DC-9DD7-5CA491C9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0170B-C4AA-916D-E7B9-332B800A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3.2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232D0B-C2A4-932A-5ED7-B687AA0EE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b)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3868E3-6AE2-948C-AF1B-7508F1468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3148" y="2102915"/>
            <a:ext cx="2665553" cy="331771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EE5D4B-FCB5-2134-B91A-F90957D7DC1B}"/>
              </a:ext>
            </a:extLst>
          </p:cNvPr>
          <p:cNvSpPr/>
          <p:nvPr/>
        </p:nvSpPr>
        <p:spPr>
          <a:xfrm>
            <a:off x="4394521" y="5170989"/>
            <a:ext cx="3422247" cy="3935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203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9FFB-6560-8F1E-6F4C-64511D3A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F37715-0D59-D06B-AB2C-486BD68D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A77A4-8F6D-081F-9391-029226F59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a)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r>
              <a:rPr lang="en-GB" dirty="0">
                <a:cs typeface="Arial"/>
              </a:rPr>
              <a:t>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A5F5E-AA0F-BC6B-91AD-E52B0DB9A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655" y="1716963"/>
            <a:ext cx="6779172" cy="481176"/>
          </a:xfrm>
          <a:prstGeom prst="rect">
            <a:avLst/>
          </a:prstGeom>
        </p:spPr>
      </p:pic>
      <p:pic>
        <p:nvPicPr>
          <p:cNvPr id="8" name="Picture 7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B5197F23-D08C-F676-62EA-8F6386882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064" y="2387271"/>
            <a:ext cx="2815458" cy="2626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24FBF2-AFBB-CDCD-D989-844E36452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813" y="5102171"/>
            <a:ext cx="37623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0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F184-0C6A-2198-40C3-2817AA8E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951CA5-EC8B-CAFB-3356-16D9576E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E7E94-C46F-0348-AC8E-ADCCF4BAC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en-GB" dirty="0">
                <a:cs typeface="Arial"/>
              </a:rPr>
              <a:t>6 Knoten und 10 </a:t>
            </a:r>
            <a:r>
              <a:rPr lang="en-GB" dirty="0" err="1">
                <a:cs typeface="Arial"/>
              </a:rPr>
              <a:t>Zweige</a:t>
            </a:r>
            <a:r>
              <a:rPr lang="en-GB" dirty="0">
                <a:cs typeface="Arial"/>
              </a:rPr>
              <a:t>: </a:t>
            </a:r>
            <a:endParaRPr lang="en-US" dirty="0"/>
          </a:p>
          <a:p>
            <a:pPr marL="0" indent="0">
              <a:buNone/>
            </a:pPr>
            <a:r>
              <a:rPr lang="en-GB" dirty="0">
                <a:cs typeface="Arial"/>
              </a:rPr>
              <a:t>    m = z - (k-1) = 10 – 5 = 5 </a:t>
            </a:r>
            <a:r>
              <a:rPr lang="en-GB" dirty="0" err="1">
                <a:cs typeface="Arial"/>
              </a:rPr>
              <a:t>unabhängige</a:t>
            </a:r>
            <a:r>
              <a:rPr lang="en-GB" dirty="0">
                <a:cs typeface="Arial"/>
              </a:rPr>
              <a:t> </a:t>
            </a:r>
            <a:r>
              <a:rPr lang="en-GB" dirty="0" err="1">
                <a:cs typeface="Arial"/>
              </a:rPr>
              <a:t>Maschengleichungen</a:t>
            </a: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6576E2D-12A0-6B28-41FB-1D1AE4A7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517" y="2426313"/>
            <a:ext cx="7593725" cy="383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93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669D-181B-5457-72E4-733900FC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5BE223-7331-D302-EA12-F7786CDB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8CE90-EC75-4CE4-6BED-5925E90A2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b) 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pic>
        <p:nvPicPr>
          <p:cNvPr id="3" name="Picture 2" descr="A black background with white circles&#10;&#10;AI-generated content may be incorrect.">
            <a:extLst>
              <a:ext uri="{FF2B5EF4-FFF2-40B4-BE49-F238E27FC236}">
                <a16:creationId xmlns:a16="http://schemas.microsoft.com/office/drawing/2014/main" id="{D7206A18-DF2A-8FD0-094B-28D39A8B8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296" y="874190"/>
            <a:ext cx="5294092" cy="538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2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C84B-2F88-FFF8-B544-28345B34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4A6A7-28A8-85B5-3379-184F61E1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683C92-8F9A-AC9D-C9C2-B2CF265C5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c) 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4F185DE-55D1-6B84-64CF-616C64BD7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69326" y="1647041"/>
            <a:ext cx="7118309" cy="35639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E72670B-9C3E-D71D-C990-1D720B0D9ECA}"/>
              </a:ext>
            </a:extLst>
          </p:cNvPr>
          <p:cNvSpPr/>
          <p:nvPr/>
        </p:nvSpPr>
        <p:spPr>
          <a:xfrm>
            <a:off x="4770699" y="5016660"/>
            <a:ext cx="3865943" cy="19098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189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6CD1D-5743-2F49-851E-20BC8536E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378E7-2852-6F4B-4E59-7DAF596A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318D9-A6A2-C7B4-9E00-3326E6F3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d) 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D270DA-534A-18F0-6A32-7A1F004BCFF7}"/>
              </a:ext>
            </a:extLst>
          </p:cNvPr>
          <p:cNvSpPr/>
          <p:nvPr/>
        </p:nvSpPr>
        <p:spPr>
          <a:xfrm>
            <a:off x="4770699" y="5016660"/>
            <a:ext cx="3865943" cy="19098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DC2770F5-D99D-D103-198E-D3EA181461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86" r="1042" b="1024"/>
          <a:stretch>
            <a:fillRect/>
          </a:stretch>
        </p:blipFill>
        <p:spPr>
          <a:xfrm>
            <a:off x="1254466" y="1714500"/>
            <a:ext cx="4590119" cy="216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20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7F33-5EC5-B9F7-B0D6-41508B79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C4FAA-AFD2-C32C-3FE8-627193F1A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8317A-EEC7-8BD2-BF79-A50C4D90F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cs typeface="Arial"/>
              </a:rPr>
              <a:t>e) k-1 = 6-1 = 5 linear </a:t>
            </a:r>
            <a:r>
              <a:rPr lang="en-GB" dirty="0" err="1">
                <a:cs typeface="Arial"/>
              </a:rPr>
              <a:t>unabhängige</a:t>
            </a:r>
            <a:r>
              <a:rPr lang="en-GB" dirty="0">
                <a:cs typeface="Arial"/>
              </a:rPr>
              <a:t> </a:t>
            </a:r>
            <a:r>
              <a:rPr lang="en-GB" dirty="0" err="1">
                <a:cs typeface="Arial"/>
              </a:rPr>
              <a:t>Knotengleichungen</a:t>
            </a: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F66330-5259-E40E-1585-6C2EDADC4C34}"/>
              </a:ext>
            </a:extLst>
          </p:cNvPr>
          <p:cNvSpPr/>
          <p:nvPr/>
        </p:nvSpPr>
        <p:spPr>
          <a:xfrm>
            <a:off x="4770699" y="5016660"/>
            <a:ext cx="3865943" cy="19098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5B826573-1DDA-DFFB-0561-49099777D3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1" b="-347"/>
          <a:stretch>
            <a:fillRect/>
          </a:stretch>
        </p:blipFill>
        <p:spPr>
          <a:xfrm>
            <a:off x="1054320" y="2325306"/>
            <a:ext cx="6601291" cy="27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57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9687-5460-4384-9550-05DF2AF0C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44CE10-4E39-D2F0-66FA-A29B94FD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4.3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0C196-0D08-E6B2-8213-2C56F168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ADCD99-1F1B-7E93-4C99-462A9DC46E54}"/>
              </a:ext>
            </a:extLst>
          </p:cNvPr>
          <p:cNvSpPr/>
          <p:nvPr/>
        </p:nvSpPr>
        <p:spPr>
          <a:xfrm>
            <a:off x="4770699" y="5016660"/>
            <a:ext cx="3865943" cy="19098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5" name="Inhaltsplatzhalter 3">
            <a:extLst>
              <a:ext uri="{FF2B5EF4-FFF2-40B4-BE49-F238E27FC236}">
                <a16:creationId xmlns:a16="http://schemas.microsoft.com/office/drawing/2014/main" id="{4065C672-6B47-4234-1C45-B8E3F41864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6719954"/>
              </p:ext>
            </p:extLst>
          </p:nvPr>
        </p:nvGraphicFramePr>
        <p:xfrm>
          <a:off x="2574764" y="1908276"/>
          <a:ext cx="7053792" cy="27482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26896">
                  <a:extLst>
                    <a:ext uri="{9D8B030D-6E8A-4147-A177-3AD203B41FA5}">
                      <a16:colId xmlns:a16="http://schemas.microsoft.com/office/drawing/2014/main" val="1652158833"/>
                    </a:ext>
                  </a:extLst>
                </a:gridCol>
                <a:gridCol w="3526896">
                  <a:extLst>
                    <a:ext uri="{9D8B030D-6E8A-4147-A177-3AD203B41FA5}">
                      <a16:colId xmlns:a16="http://schemas.microsoft.com/office/drawing/2014/main" val="417349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Größe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Verhalten A oder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5499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dirty="0"/>
                        <a:t>i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79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i</a:t>
                      </a:r>
                      <a:r>
                        <a:rPr lang="de-DE" sz="1100" dirty="0"/>
                        <a:t>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7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u</a:t>
                      </a:r>
                      <a:r>
                        <a:rPr lang="de-DE" sz="1100" dirty="0"/>
                        <a:t>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478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i</a:t>
                      </a:r>
                      <a:r>
                        <a:rPr lang="de-DE" sz="1100" dirty="0"/>
                        <a:t>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123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dirty="0"/>
                        <a:t>u</a:t>
                      </a:r>
                      <a:r>
                        <a:rPr lang="de-DE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844427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2000" dirty="0"/>
                        <a:t>u</a:t>
                      </a:r>
                      <a:r>
                        <a:rPr lang="de-DE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580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47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4D45B-C504-0453-945E-CE4933B66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8DD80C-4601-6D09-8BE0-BB9C4C14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5.1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34EE9-B2BA-7DB2-7FDF-19C1B2518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  <a:p>
            <a:pPr marL="0" indent="0">
              <a:buNone/>
            </a:pPr>
            <a:endParaRPr lang="en-GB" dirty="0"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1B61B2-EF98-0CC3-6506-4CCE4C63CC8C}"/>
              </a:ext>
            </a:extLst>
          </p:cNvPr>
          <p:cNvSpPr/>
          <p:nvPr/>
        </p:nvSpPr>
        <p:spPr>
          <a:xfrm>
            <a:off x="4770699" y="5016660"/>
            <a:ext cx="3865943" cy="19098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Inhaltsplatzhalter 3">
                <a:extLst>
                  <a:ext uri="{FF2B5EF4-FFF2-40B4-BE49-F238E27FC236}">
                    <a16:creationId xmlns:a16="http://schemas.microsoft.com/office/drawing/2014/main" id="{1ABF4556-9B27-183D-CCBA-1BED8863B50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63067783"/>
                  </p:ext>
                </p:extLst>
              </p:nvPr>
            </p:nvGraphicFramePr>
            <p:xfrm>
              <a:off x="2121423" y="2438783"/>
              <a:ext cx="3009415" cy="2185544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925974">
                      <a:extLst>
                        <a:ext uri="{9D8B030D-6E8A-4147-A177-3AD203B41FA5}">
                          <a16:colId xmlns:a16="http://schemas.microsoft.com/office/drawing/2014/main" val="1652158833"/>
                        </a:ext>
                      </a:extLst>
                    </a:gridCol>
                    <a:gridCol w="974201">
                      <a:extLst>
                        <a:ext uri="{9D8B030D-6E8A-4147-A177-3AD203B41FA5}">
                          <a16:colId xmlns:a16="http://schemas.microsoft.com/office/drawing/2014/main" val="4173493018"/>
                        </a:ext>
                      </a:extLst>
                    </a:gridCol>
                    <a:gridCol w="1109240">
                      <a:extLst>
                        <a:ext uri="{9D8B030D-6E8A-4147-A177-3AD203B41FA5}">
                          <a16:colId xmlns:a16="http://schemas.microsoft.com/office/drawing/2014/main" val="3919896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4991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sz="2000" dirty="0"/>
                            <a:t>0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88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88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6797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76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122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2708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𝐴𝐶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0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101011000100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84785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sz="2000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66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1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de-DE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sub>
                              </m:sSub>
                            </m:oMath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012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Inhaltsplatzhalter 3">
                <a:extLst>
                  <a:ext uri="{FF2B5EF4-FFF2-40B4-BE49-F238E27FC236}">
                    <a16:creationId xmlns:a16="http://schemas.microsoft.com/office/drawing/2014/main" id="{1ABF4556-9B27-183D-CCBA-1BED8863B509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63067783"/>
                  </p:ext>
                </p:extLst>
              </p:nvPr>
            </p:nvGraphicFramePr>
            <p:xfrm>
              <a:off x="2121423" y="2438783"/>
              <a:ext cx="3009415" cy="2185544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925974">
                      <a:extLst>
                        <a:ext uri="{9D8B030D-6E8A-4147-A177-3AD203B41FA5}">
                          <a16:colId xmlns:a16="http://schemas.microsoft.com/office/drawing/2014/main" val="1652158833"/>
                        </a:ext>
                      </a:extLst>
                    </a:gridCol>
                    <a:gridCol w="974201">
                      <a:extLst>
                        <a:ext uri="{9D8B030D-6E8A-4147-A177-3AD203B41FA5}">
                          <a16:colId xmlns:a16="http://schemas.microsoft.com/office/drawing/2014/main" val="4173493018"/>
                        </a:ext>
                      </a:extLst>
                    </a:gridCol>
                    <a:gridCol w="1109240">
                      <a:extLst>
                        <a:ext uri="{9D8B030D-6E8A-4147-A177-3AD203B41FA5}">
                          <a16:colId xmlns:a16="http://schemas.microsoft.com/office/drawing/2014/main" val="391989654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de-DE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549916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6" t="-101538" r="-227632" b="-38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250" t="-101538" r="-116250" b="-38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6797659"/>
                      </a:ext>
                    </a:extLst>
                  </a:tr>
                  <a:tr h="3891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6" t="-204688" r="-227632" b="-289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250" t="-204688" r="-116250" b="-2890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27087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6" t="-185714" r="-227632" b="-7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250" t="-185714" r="-116250" b="-7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8478599"/>
                      </a:ext>
                    </a:extLst>
                  </a:tr>
                  <a:tr h="3891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316" t="-468750" r="-227632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6250" t="-468750" r="-116250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vl="0">
                            <a:buNone/>
                          </a:pPr>
                          <a:r>
                            <a:rPr lang="de-DE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0123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7B8576D-3F6E-9269-1C5C-769B7A9B0A61}"/>
              </a:ext>
            </a:extLst>
          </p:cNvPr>
          <p:cNvSpPr txBox="1">
            <a:spLocks/>
          </p:cNvSpPr>
          <p:nvPr/>
        </p:nvSpPr>
        <p:spPr bwMode="auto">
          <a:xfrm>
            <a:off x="962400" y="1771310"/>
            <a:ext cx="105804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180975" indent="-180975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1338" indent="-180975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Char char="-"/>
              <a:defRPr sz="2000">
                <a:solidFill>
                  <a:schemeClr val="tx1"/>
                </a:solidFill>
                <a:latin typeface="+mn-lt"/>
              </a:defRPr>
            </a:lvl2pPr>
            <a:lvl3pPr marL="895350" indent="-174625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3pPr>
            <a:lvl4pPr marL="1260475" indent="-185738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4pPr>
            <a:lvl5pPr marL="0" indent="0" algn="l" rtl="0" eaLnBrk="1" fontAlgn="base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Tx/>
              <a:buNone/>
              <a:tabLst>
                <a:tab pos="5292000" algn="ctr"/>
                <a:tab pos="10512000" algn="r"/>
              </a:tabLst>
              <a:defRPr sz="2000">
                <a:solidFill>
                  <a:schemeClr val="tx1"/>
                </a:solidFill>
                <a:latin typeface="+mn-lt"/>
              </a:defRPr>
            </a:lvl5pPr>
            <a:lvl6pPr marL="20796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6pPr>
            <a:lvl7pPr marL="25368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7pPr>
            <a:lvl8pPr marL="29940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8pPr>
            <a:lvl9pPr marL="34512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GB" kern="0" dirty="0">
                <a:cs typeface="Arial"/>
              </a:rPr>
              <a:t>a) CMOS, da die </a:t>
            </a:r>
            <a:r>
              <a:rPr lang="en-GB" kern="0" dirty="0" err="1">
                <a:cs typeface="Arial"/>
              </a:rPr>
              <a:t>Schaltung</a:t>
            </a:r>
            <a:r>
              <a:rPr lang="en-GB" kern="0" dirty="0">
                <a:cs typeface="Arial"/>
              </a:rPr>
              <a:t> </a:t>
            </a:r>
            <a:r>
              <a:rPr lang="en-GB" kern="0" dirty="0" err="1">
                <a:cs typeface="Arial"/>
              </a:rPr>
              <a:t>aus</a:t>
            </a:r>
            <a:r>
              <a:rPr lang="en-GB" kern="0" dirty="0">
                <a:cs typeface="Arial"/>
              </a:rPr>
              <a:t> PMOS und NMOS </a:t>
            </a:r>
            <a:r>
              <a:rPr lang="en-GB" kern="0" dirty="0" err="1">
                <a:cs typeface="Arial"/>
              </a:rPr>
              <a:t>besteht</a:t>
            </a:r>
          </a:p>
          <a:p>
            <a:pPr marL="0" indent="0">
              <a:buFontTx/>
              <a:buNone/>
            </a:pPr>
            <a:endParaRPr lang="en-GB" kern="0" dirty="0">
              <a:cs typeface="Arial"/>
            </a:endParaRPr>
          </a:p>
          <a:p>
            <a:pPr marL="0" indent="0">
              <a:buFontTx/>
              <a:buNone/>
            </a:pPr>
            <a:r>
              <a:rPr lang="en-GB" kern="0" dirty="0">
                <a:cs typeface="Arial"/>
              </a:rPr>
              <a:t>b)</a:t>
            </a: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  <a:p>
            <a:pPr marL="0" indent="0">
              <a:buNone/>
            </a:pPr>
            <a:endParaRPr lang="en-GB" kern="0" dirty="0"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9FA2A9-6B99-4BE1-C7ED-0D5639B8A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4" r="-752" b="11667"/>
          <a:stretch>
            <a:fillRect/>
          </a:stretch>
        </p:blipFill>
        <p:spPr>
          <a:xfrm>
            <a:off x="5983568" y="2438783"/>
            <a:ext cx="1295543" cy="50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5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F489-DAE4-DE09-DB09-90B9546E1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F55D7-EEAD-70BD-EC81-73FF06DA1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5.1</a:t>
            </a:r>
          </a:p>
        </p:txBody>
      </p:sp>
      <p:pic>
        <p:nvPicPr>
          <p:cNvPr id="8" name="Content Placeholder 7" descr="A diagram of a computer circuit&#10;&#10;AI-generated content may be incorrect.">
            <a:extLst>
              <a:ext uri="{FF2B5EF4-FFF2-40B4-BE49-F238E27FC236}">
                <a16:creationId xmlns:a16="http://schemas.microsoft.com/office/drawing/2014/main" id="{1C5F5E8C-7205-0A40-8C73-9A71EA0BB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115028" y="1842055"/>
            <a:ext cx="7225862" cy="372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CD34C2-9610-37F2-ED4A-13C88E8A6DF2}"/>
              </a:ext>
            </a:extLst>
          </p:cNvPr>
          <p:cNvSpPr/>
          <p:nvPr/>
        </p:nvSpPr>
        <p:spPr>
          <a:xfrm>
            <a:off x="4666593" y="2507593"/>
            <a:ext cx="4006193" cy="102826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AE80AD-6DD8-19A8-5C74-2FC2DF8D263B}"/>
              </a:ext>
            </a:extLst>
          </p:cNvPr>
          <p:cNvSpPr/>
          <p:nvPr/>
        </p:nvSpPr>
        <p:spPr>
          <a:xfrm>
            <a:off x="5270937" y="3777591"/>
            <a:ext cx="3331780" cy="12822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EBCB35-A047-D45B-E319-BF3B513BEFD8}"/>
              </a:ext>
            </a:extLst>
          </p:cNvPr>
          <p:cNvSpPr/>
          <p:nvPr/>
        </p:nvSpPr>
        <p:spPr>
          <a:xfrm>
            <a:off x="3046246" y="3427245"/>
            <a:ext cx="1194677" cy="53778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FFEC96-183E-F2ED-3F71-B8FAB59E762B}"/>
              </a:ext>
            </a:extLst>
          </p:cNvPr>
          <p:cNvSpPr/>
          <p:nvPr/>
        </p:nvSpPr>
        <p:spPr>
          <a:xfrm>
            <a:off x="3046248" y="2630212"/>
            <a:ext cx="1194676" cy="572815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9025942B-C9F1-6462-88E7-256C849F3175}"/>
              </a:ext>
            </a:extLst>
          </p:cNvPr>
          <p:cNvSpPr txBox="1">
            <a:spLocks/>
          </p:cNvSpPr>
          <p:nvPr/>
        </p:nvSpPr>
        <p:spPr bwMode="auto">
          <a:xfrm>
            <a:off x="810000" y="1773239"/>
            <a:ext cx="105804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>
            <a:lvl1pPr marL="180975" indent="-180975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1338" indent="-180975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80000"/>
              <a:buChar char="-"/>
              <a:defRPr sz="2000">
                <a:solidFill>
                  <a:schemeClr val="tx1"/>
                </a:solidFill>
                <a:latin typeface="+mn-lt"/>
              </a:defRPr>
            </a:lvl2pPr>
            <a:lvl3pPr marL="895350" indent="-174625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3pPr>
            <a:lvl4pPr marL="1260475" indent="-185738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Char char="•"/>
              <a:defRPr sz="1400">
                <a:solidFill>
                  <a:schemeClr val="tx1"/>
                </a:solidFill>
                <a:latin typeface="+mn-lt"/>
              </a:defRPr>
            </a:lvl4pPr>
            <a:lvl5pPr marL="0" indent="0" algn="l" rtl="0" eaLnBrk="1" fontAlgn="base" hangingPunct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Tx/>
              <a:buNone/>
              <a:tabLst>
                <a:tab pos="5292000" algn="ctr"/>
                <a:tab pos="10512000" algn="r"/>
              </a:tabLst>
              <a:defRPr sz="2000">
                <a:solidFill>
                  <a:schemeClr val="tx1"/>
                </a:solidFill>
                <a:latin typeface="+mn-lt"/>
              </a:defRPr>
            </a:lvl5pPr>
            <a:lvl6pPr marL="20796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6pPr>
            <a:lvl7pPr marL="25368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7pPr>
            <a:lvl8pPr marL="29940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8pPr>
            <a:lvl9pPr marL="3451225" indent="-182563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har char="-"/>
              <a:defRPr sz="12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GB" kern="0" dirty="0">
                <a:cs typeface="Arial"/>
              </a:rPr>
              <a:t>c) </a:t>
            </a:r>
          </a:p>
          <a:p>
            <a:pPr marL="0" indent="0">
              <a:buFontTx/>
              <a:buNone/>
            </a:pPr>
            <a:endParaRPr lang="en-GB" kern="0" dirty="0">
              <a:cs typeface="Arial"/>
            </a:endParaRPr>
          </a:p>
          <a:p>
            <a:pPr marL="0" indent="0">
              <a:buFontTx/>
              <a:buNone/>
            </a:pPr>
            <a:endParaRPr lang="en-GB" kern="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7916623"/>
      </p:ext>
    </p:extLst>
  </p:cSld>
  <p:clrMapOvr>
    <a:masterClrMapping/>
  </p:clrMapOvr>
</p:sld>
</file>

<file path=ppt/theme/theme1.xml><?xml version="1.0" encoding="utf-8"?>
<a:theme xmlns:a="http://schemas.openxmlformats.org/drawingml/2006/main" name="UT_pptmaster_mathnat">
  <a:themeElements>
    <a:clrScheme name="Uni Tübingen inkl. Sekundarfarben">
      <a:dk1>
        <a:srgbClr val="333333"/>
      </a:dk1>
      <a:lt1>
        <a:srgbClr val="FFFFFF"/>
      </a:lt1>
      <a:dk2>
        <a:srgbClr val="A51E37"/>
      </a:dk2>
      <a:lt2>
        <a:srgbClr val="2D2015"/>
      </a:lt2>
      <a:accent1>
        <a:srgbClr val="BFBFBF"/>
      </a:accent1>
      <a:accent2>
        <a:srgbClr val="B4A069"/>
      </a:accent2>
      <a:accent3>
        <a:srgbClr val="415A8C"/>
      </a:accent3>
      <a:accent4>
        <a:srgbClr val="A51E37"/>
      </a:accent4>
      <a:accent5>
        <a:srgbClr val="326E1E"/>
      </a:accent5>
      <a:accent6>
        <a:srgbClr val="D29600"/>
      </a:accent6>
      <a:hlink>
        <a:srgbClr val="32414B"/>
      </a:hlink>
      <a:folHlink>
        <a:srgbClr val="A51E37"/>
      </a:folHlink>
    </a:clrScheme>
    <a:fontScheme name="UT_TIT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UT_TITEL 1">
        <a:dk1>
          <a:srgbClr val="333333"/>
        </a:dk1>
        <a:lt1>
          <a:srgbClr val="FFFFFF"/>
        </a:lt1>
        <a:dk2>
          <a:srgbClr val="A51E37"/>
        </a:dk2>
        <a:lt2>
          <a:srgbClr val="2D2015"/>
        </a:lt2>
        <a:accent1>
          <a:srgbClr val="ADB3B7"/>
        </a:accent1>
        <a:accent2>
          <a:srgbClr val="B4A069"/>
        </a:accent2>
        <a:accent3>
          <a:srgbClr val="FFFFFF"/>
        </a:accent3>
        <a:accent4>
          <a:srgbClr val="2A2A2A"/>
        </a:accent4>
        <a:accent5>
          <a:srgbClr val="D3D6D8"/>
        </a:accent5>
        <a:accent6>
          <a:srgbClr val="A3915E"/>
        </a:accent6>
        <a:hlink>
          <a:srgbClr val="32414B"/>
        </a:hlink>
        <a:folHlink>
          <a:srgbClr val="A51E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99F1A435591F42BCDE2557FA51CDDA" ma:contentTypeVersion="15" ma:contentTypeDescription="Create a new document." ma:contentTypeScope="" ma:versionID="baa9c65a0a545f65583643df3cf8d9f4">
  <xsd:schema xmlns:xsd="http://www.w3.org/2001/XMLSchema" xmlns:xs="http://www.w3.org/2001/XMLSchema" xmlns:p="http://schemas.microsoft.com/office/2006/metadata/properties" xmlns:ns2="f957fcc5-14ca-4ecf-9842-9f00d595875c" xmlns:ns3="e08cfc56-8307-41e5-898e-b333c51beffa" targetNamespace="http://schemas.microsoft.com/office/2006/metadata/properties" ma:root="true" ma:fieldsID="015d39312a6521742bc57e13b2dae392" ns2:_="" ns3:_="">
    <xsd:import namespace="f957fcc5-14ca-4ecf-9842-9f00d595875c"/>
    <xsd:import namespace="e08cfc56-8307-41e5-898e-b333c51bef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57fcc5-14ca-4ecf-9842-9f00d59587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bde38a42-f053-4c2a-847a-0f3502bf1d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8cfc56-8307-41e5-898e-b333c51beff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5567681e-1cf4-4a75-82d6-426285e8dab8}" ma:internalName="TaxCatchAll" ma:showField="CatchAllData" ma:web="e08cfc56-8307-41e5-898e-b333c51bef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8cfc56-8307-41e5-898e-b333c51beffa" xsi:nil="true"/>
    <lcf76f155ced4ddcb4097134ff3c332f xmlns="f957fcc5-14ca-4ecf-9842-9f00d595875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F35E4A-19A6-42ED-B9B2-B9FDCAD1EAA1}">
  <ds:schemaRefs>
    <ds:schemaRef ds:uri="e08cfc56-8307-41e5-898e-b333c51beffa"/>
    <ds:schemaRef ds:uri="f957fcc5-14ca-4ecf-9842-9f00d59587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48F4C2-72FB-464C-8474-E470A16039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C86142-AC43-4D34-9C61-6017C7A1D49D}">
  <ds:schemaRefs>
    <ds:schemaRef ds:uri="e08cfc56-8307-41e5-898e-b333c51beffa"/>
    <ds:schemaRef ds:uri="f957fcc5-14ca-4ecf-9842-9f00d595875c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416</Words>
  <Application>Microsoft Office PowerPoint</Application>
  <PresentationFormat>Widescreen</PresentationFormat>
  <Paragraphs>166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Cambria Math</vt:lpstr>
      <vt:lpstr>Wingdings</vt:lpstr>
      <vt:lpstr>UT_pptmaster_mathnat</vt:lpstr>
      <vt:lpstr>Technische Informatik 1</vt:lpstr>
      <vt:lpstr>Aufgabe 1.1</vt:lpstr>
      <vt:lpstr>Aufgabe 1.2</vt:lpstr>
      <vt:lpstr>Aufgabe 1.3</vt:lpstr>
      <vt:lpstr>Aufgabe 2.1</vt:lpstr>
      <vt:lpstr>Aufgabe 2.1</vt:lpstr>
      <vt:lpstr>Aufgabe 3.1</vt:lpstr>
      <vt:lpstr>Aufgabe 3.1</vt:lpstr>
      <vt:lpstr>Aufgabe 3.1</vt:lpstr>
      <vt:lpstr>Aufgabe 3.1</vt:lpstr>
      <vt:lpstr>Aufgabe 3.2</vt:lpstr>
      <vt:lpstr>Aufgabe 3.2</vt:lpstr>
      <vt:lpstr>Aufgabe 4.1</vt:lpstr>
      <vt:lpstr>Aufgabe 4.2</vt:lpstr>
      <vt:lpstr>Aufgabe 4.2</vt:lpstr>
      <vt:lpstr>Aufgabe 4.2</vt:lpstr>
      <vt:lpstr>Aufgabe 4.2</vt:lpstr>
      <vt:lpstr>Aufgabe 4.2</vt:lpstr>
      <vt:lpstr>Aufgabe 4.3</vt:lpstr>
      <vt:lpstr>Aufgabe 5.1</vt:lpstr>
      <vt:lpstr>Aufgabe 5.1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Sebastian Burg;bringman@fzi.de;Rudi Seidl</dc:creator>
  <cp:lastModifiedBy>adam könig</cp:lastModifiedBy>
  <cp:revision>440</cp:revision>
  <cp:lastPrinted>2023-11-29T22:31:04Z</cp:lastPrinted>
  <dcterms:created xsi:type="dcterms:W3CDTF">2012-05-03T09:32:35Z</dcterms:created>
  <dcterms:modified xsi:type="dcterms:W3CDTF">2026-02-09T10:55:22Z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0x0101008799F1A435591F42BCDE2557FA51CDDA</vt:lpwstr>
  </property>
  <property fmtid="{D5CDD505-2E9C-101B-9397-08002B2CF9AE}" pid="3" name="MediaServiceImageTags">
    <vt:lpwstr/>
  </property>
</Properties>
</file>