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35"/>
  </p:notesMasterIdLst>
  <p:handoutMasterIdLst>
    <p:handoutMasterId r:id="rId36"/>
  </p:handoutMasterIdLst>
  <p:sldIdLst>
    <p:sldId id="1041" r:id="rId5"/>
    <p:sldId id="1043" r:id="rId6"/>
    <p:sldId id="1044" r:id="rId7"/>
    <p:sldId id="1045" r:id="rId8"/>
    <p:sldId id="1046" r:id="rId9"/>
    <p:sldId id="1047" r:id="rId10"/>
    <p:sldId id="1065" r:id="rId11"/>
    <p:sldId id="1050" r:id="rId12"/>
    <p:sldId id="1051" r:id="rId13"/>
    <p:sldId id="1052" r:id="rId14"/>
    <p:sldId id="1053" r:id="rId15"/>
    <p:sldId id="1063" r:id="rId16"/>
    <p:sldId id="1064" r:id="rId17"/>
    <p:sldId id="1066" r:id="rId18"/>
    <p:sldId id="1067" r:id="rId19"/>
    <p:sldId id="1068" r:id="rId20"/>
    <p:sldId id="1069" r:id="rId21"/>
    <p:sldId id="1055" r:id="rId22"/>
    <p:sldId id="1071" r:id="rId23"/>
    <p:sldId id="1054" r:id="rId24"/>
    <p:sldId id="1070" r:id="rId25"/>
    <p:sldId id="1056" r:id="rId26"/>
    <p:sldId id="1057" r:id="rId27"/>
    <p:sldId id="1058" r:id="rId28"/>
    <p:sldId id="1059" r:id="rId29"/>
    <p:sldId id="1060" r:id="rId30"/>
    <p:sldId id="1061" r:id="rId31"/>
    <p:sldId id="1062" r:id="rId32"/>
    <p:sldId id="1072" r:id="rId33"/>
    <p:sldId id="1073" r:id="rId34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  <p14:sldId id="1043"/>
            <p14:sldId id="1044"/>
            <p14:sldId id="1045"/>
            <p14:sldId id="1046"/>
            <p14:sldId id="1047"/>
            <p14:sldId id="1065"/>
            <p14:sldId id="1050"/>
            <p14:sldId id="1051"/>
            <p14:sldId id="1052"/>
            <p14:sldId id="1053"/>
            <p14:sldId id="1063"/>
            <p14:sldId id="1064"/>
            <p14:sldId id="1066"/>
            <p14:sldId id="1067"/>
            <p14:sldId id="1068"/>
            <p14:sldId id="1069"/>
            <p14:sldId id="1055"/>
            <p14:sldId id="1071"/>
            <p14:sldId id="1054"/>
            <p14:sldId id="1070"/>
            <p14:sldId id="1056"/>
            <p14:sldId id="1057"/>
            <p14:sldId id="1058"/>
            <p14:sldId id="1059"/>
            <p14:sldId id="1060"/>
            <p14:sldId id="1061"/>
            <p14:sldId id="1062"/>
            <p14:sldId id="1072"/>
            <p14:sldId id="1073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E68480-3B10-9DDC-13A3-804E098ECB4E}" v="367" dt="2026-02-09T11:24:37.240"/>
    <p1510:client id="{2579337A-4FA7-A840-84D1-96548F8A9632}" v="68" dt="2026-02-10T09:09:48.344"/>
    <p1510:client id="{4C0DE733-53BE-F9E9-255C-E232D43849EE}" v="166" dt="2026-02-09T12:09:28.159"/>
    <p1510:client id="{CDEA013C-0C4C-7CC9-3073-C215768A4D35}" v="422" dt="2026-02-08T21:59:01.042"/>
    <p1510:client id="{CF275D93-1AF9-5CD7-90BA-CB7126BBAC7F}" v="1388" dt="2026-02-09T11:07:37.102"/>
    <p1510:client id="{D9D7A87D-DE7C-D9BF-B02E-6FFACE30470C}" v="1" dt="2026-02-08T22:04:55.165"/>
    <p1510:client id="{E456898E-0D6D-61B1-C654-26B7480EF30F}" v="153" dt="2026-02-10T09:25:30.7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10.02.2026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‹#›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/>
              <a:t>T</a:t>
            </a:r>
            <a:r>
              <a:rPr lang="de-DE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D745B-E118-DF90-1A6B-73549ADF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1.1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89A3222-6D0A-B583-3338-83DC8C4B38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89516487"/>
              </p:ext>
            </p:extLst>
          </p:nvPr>
        </p:nvGraphicFramePr>
        <p:xfrm>
          <a:off x="809625" y="1773237"/>
          <a:ext cx="10580685" cy="288955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02204">
                  <a:extLst>
                    <a:ext uri="{9D8B030D-6E8A-4147-A177-3AD203B41FA5}">
                      <a16:colId xmlns:a16="http://schemas.microsoft.com/office/drawing/2014/main" val="77739209"/>
                    </a:ext>
                  </a:extLst>
                </a:gridCol>
                <a:gridCol w="2449285">
                  <a:extLst>
                    <a:ext uri="{9D8B030D-6E8A-4147-A177-3AD203B41FA5}">
                      <a16:colId xmlns:a16="http://schemas.microsoft.com/office/drawing/2014/main" val="3652360773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397508493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3336663794"/>
                    </a:ext>
                  </a:extLst>
                </a:gridCol>
                <a:gridCol w="2464024">
                  <a:extLst>
                    <a:ext uri="{9D8B030D-6E8A-4147-A177-3AD203B41FA5}">
                      <a16:colId xmlns:a16="http://schemas.microsoft.com/office/drawing/2014/main" val="2948349838"/>
                    </a:ext>
                  </a:extLst>
                </a:gridCol>
              </a:tblGrid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Einerkomplement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Zweierkomplement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009295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100101 = 32 + 4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02699"/>
                  </a:ext>
                </a:extLst>
              </a:tr>
              <a:tr h="1042036">
                <a:tc>
                  <a:txBody>
                    <a:bodyPr/>
                    <a:lstStyle/>
                    <a:p>
                      <a:r>
                        <a:rPr lang="de-DE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-1 x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111110, da 000001 =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-32 + 16 + 8 + 6 + 4 + 2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27027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-1 x (31)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10000, da 011111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-32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99044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7E33D22C-6212-FDEF-4425-51F6F27B5241}"/>
              </a:ext>
            </a:extLst>
          </p:cNvPr>
          <p:cNvSpPr txBox="1"/>
          <p:nvPr/>
        </p:nvSpPr>
        <p:spPr>
          <a:xfrm>
            <a:off x="809625" y="5050971"/>
            <a:ext cx="10435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/>
              <a:t>Denkt an den Betrag, den man maximal darstellen kann.</a:t>
            </a:r>
          </a:p>
          <a:p>
            <a:pPr marL="342900" indent="-342900">
              <a:buFont typeface="+mj-lt"/>
              <a:buAutoNum type="arabicPeriod"/>
            </a:pPr>
            <a:r>
              <a:rPr lang="de-DE"/>
              <a:t>Einerkomplement bildet man einfach über das Komplement der positiven Zahl.</a:t>
            </a:r>
          </a:p>
          <a:p>
            <a:pPr marL="342900" indent="-342900">
              <a:buFont typeface="+mj-lt"/>
              <a:buAutoNum type="arabicPeriod"/>
            </a:pPr>
            <a:r>
              <a:rPr lang="de-DE"/>
              <a:t>Ihr müsst das Zweierkomplement bilden und damit rechnen können.</a:t>
            </a:r>
          </a:p>
        </p:txBody>
      </p:sp>
    </p:spTree>
    <p:extLst>
      <p:ext uri="{BB962C8B-B14F-4D97-AF65-F5344CB8AC3E}">
        <p14:creationId xmlns:p14="http://schemas.microsoft.com/office/powerpoint/2010/main" val="55367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91926-9E76-A14D-77E0-1D9FD890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45346232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/>
                            <a:t>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76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122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𝐴𝐶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101011000100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45346232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8197" r="-20069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/>
                            <a:t>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108197" r="-691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4839" r="-200691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204839" r="-691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9836" r="-20069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309836" r="-69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9836" r="-20069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409836" r="-691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/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/>
                  <a:t>Bei der gleichen Zahl gewinnt die höhere Basis.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122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=64+2 ∗8+1=81</m:t>
                    </m:r>
                  </m:oMath>
                </a14:m>
                <a:endParaRPr lang="de-DE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1010 1100 0100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66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 ∗8+6 ∗1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≠3 ∗16+3</m:t>
                    </m:r>
                  </m:oMath>
                </a14:m>
                <a:endParaRPr lang="de-DE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blipFill>
                <a:blip r:embed="rId3"/>
                <a:stretch>
                  <a:fillRect l="-461" t="-2538" b="-6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3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365C6-A437-06FB-CD96-FC7C4131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=−27=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80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8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0011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1110 0101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11110011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=−128+64+16+8=−40</m:t>
                    </m:r>
                  </m:oMath>
                </a14:m>
                <a:endParaRPr lang="de-DE" sz="2800"/>
              </a:p>
              <a:p>
                <a:pPr marL="0" indent="0">
                  <a:buNone/>
                </a:pPr>
                <a:endParaRPr lang="de-DE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  <a:blipFill>
                <a:blip r:embed="rId2"/>
                <a:stretch>
                  <a:fillRect t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09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985989-7B55-F54A-5703-96922D40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∨(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de-DE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∨(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endParaRPr lang="de-DE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∨(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endParaRPr lang="de-DE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12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CD29-5B57-C9EC-FDD2-20A4CC4C1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2.1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324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F7245-299E-D607-92C5-0E28A3104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2.2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D78077-73BF-FAD1-69B7-8CEB4DEB47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de-DE"/>
                  <a:t>Ein Huntington’sches Axiom besagt (a ∧ b) ∨ a = a </a:t>
                </a:r>
                <a:r>
                  <a:rPr lang="de-DE" b="1"/>
                  <a:t>(Falsch</a:t>
                </a:r>
                <a:r>
                  <a:rPr lang="de-DE"/>
                  <a:t>, Absorptionsgesetz folgt aus HA ist aber kein HA</a:t>
                </a:r>
                <a:r>
                  <a:rPr lang="de-DE" b="1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/>
                  <a:t>{¬, xor} ist ein vollständiges Operatorensystem </a:t>
                </a:r>
                <a:r>
                  <a:rPr lang="de-DE" b="1"/>
                  <a:t>(Falsch</a:t>
                </a:r>
                <a:r>
                  <a:rPr lang="de-DE"/>
                  <a:t>, geht nicht [siehe ÜB]</a:t>
                </a:r>
                <a:r>
                  <a:rPr lang="de-DE" b="1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/>
                  <a:t>{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</m:e>
                    </m:acc>
                  </m:oMath>
                </a14:m>
                <a:r>
                  <a:rPr lang="de-DE"/>
                  <a:t>} ist ein vollst¨andiges Operatorensystem </a:t>
                </a:r>
                <a:r>
                  <a:rPr lang="de-DE" b="1"/>
                  <a:t>(Wahr</a:t>
                </a:r>
                <a:r>
                  <a:rPr lang="de-DE"/>
                  <a:t>, geht [siehe ÜB]</a:t>
                </a:r>
                <a:r>
                  <a:rPr lang="de-DE" b="1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/>
                  <a:t>Der Term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de-DE"/>
                  <a:t>kommt in der DNF von ((a ∨ b) → c) vor </a:t>
                </a:r>
                <a:r>
                  <a:rPr lang="de-DE" b="1"/>
                  <a:t>(Falsch</a:t>
                </a:r>
                <a:r>
                  <a:rPr lang="de-DE"/>
                  <a:t>, (0, 1, 0) ist falsch</a:t>
                </a:r>
                <a:r>
                  <a:rPr lang="de-DE" b="1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∨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) ∨ (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) ∨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→</m:t>
                        </m:r>
                        <m:acc>
                          <m:accPr>
                            <m:chr m:val="̅"/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/>
                  <a:t>ist eine Tautologie </a:t>
                </a:r>
                <a:r>
                  <a:rPr lang="de-DE" b="1"/>
                  <a:t>(Wahr</a:t>
                </a:r>
                <a:r>
                  <a:rPr lang="de-DE"/>
                  <a:t>, Mit Term 1 haben wir alles außer (0, 1) mit Term 2 haben wir (0, 1) also immer wahr.</a:t>
                </a:r>
                <a:r>
                  <a:rPr lang="de-DE" b="1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/>
                  <a:t>Erfüllen die boole’schen Ausdrücke A und B die gleiche logische Funktion, so gilt A xor B ist eine Kontradiktion </a:t>
                </a:r>
                <a:r>
                  <a:rPr lang="de-DE" b="1"/>
                  <a:t>(Wahr, </a:t>
                </a:r>
                <a:r>
                  <a:rPr lang="de-DE"/>
                  <a:t>beide Ausdrücke sind immer gleichzeitig wahr oder falsch</a:t>
                </a:r>
                <a:r>
                  <a:rPr lang="de-DE" b="1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D78077-73BF-FAD1-69B7-8CEB4DEB47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 t="-1821" r="-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3417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93A8C-5D51-A15E-3500-B39601C3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DFFC3-21E4-FE58-5643-FC461C94D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834434-46D8-8169-D511-9D75F950E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a)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F19C1194-D512-59B2-523E-66BF7525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95170" y="1576992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A5E91B6-76E9-51B8-36C3-86ED6BBDB4F9}"/>
              </a:ext>
            </a:extLst>
          </p:cNvPr>
          <p:cNvSpPr txBox="1"/>
          <p:nvPr/>
        </p:nvSpPr>
        <p:spPr>
          <a:xfrm>
            <a:off x="5456731" y="2955867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>
                <a:latin typeface="Arial"/>
                <a:cs typeface="Arial"/>
              </a:rPr>
              <a:t>*</a:t>
            </a:r>
            <a:endParaRPr lang="en-GB" sz="3200">
              <a:latin typeface="Arial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CC331-FF69-69BF-C7DF-80F905F21287}"/>
              </a:ext>
            </a:extLst>
          </p:cNvPr>
          <p:cNvSpPr txBox="1"/>
          <p:nvPr/>
        </p:nvSpPr>
        <p:spPr>
          <a:xfrm>
            <a:off x="5941671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5F0D07-7C60-E0FB-48C1-927CA23351F8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07A129-3052-C33B-14A7-D1FE426047BD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EDDAB1-7AED-E4FD-0ED5-BA1B2B7D9743}"/>
              </a:ext>
            </a:extLst>
          </p:cNvPr>
          <p:cNvSpPr txBox="1"/>
          <p:nvPr/>
        </p:nvSpPr>
        <p:spPr>
          <a:xfrm>
            <a:off x="7202908" y="353903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F5CB92-7896-F983-D4BB-378381E0F4C7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08D9F1-6A02-3CF2-BF7F-0056D63A83D2}"/>
              </a:ext>
            </a:extLst>
          </p:cNvPr>
          <p:cNvSpPr txBox="1"/>
          <p:nvPr/>
        </p:nvSpPr>
        <p:spPr>
          <a:xfrm>
            <a:off x="5941665" y="3539032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1470D8-C28C-6153-2E31-23B2B4804C96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495DEC-D92B-9098-8EE9-FADCBCE080D7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61823D-D42B-5D56-236E-BCC50E29AF50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C92C1-0A9A-5EEF-B14A-526C3C90441F}"/>
              </a:ext>
            </a:extLst>
          </p:cNvPr>
          <p:cNvSpPr txBox="1"/>
          <p:nvPr/>
        </p:nvSpPr>
        <p:spPr>
          <a:xfrm>
            <a:off x="6554766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E25EEF-D057-064F-4AF7-8DEE647E18E5}"/>
              </a:ext>
            </a:extLst>
          </p:cNvPr>
          <p:cNvSpPr txBox="1"/>
          <p:nvPr/>
        </p:nvSpPr>
        <p:spPr>
          <a:xfrm>
            <a:off x="7202903" y="4219827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>
                <a:latin typeface="Arial"/>
                <a:cs typeface="Arial"/>
              </a:rPr>
              <a:t>*</a:t>
            </a:r>
            <a:endParaRPr lang="en-GB" sz="2000">
              <a:cs typeface="Arial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6BCE47-04F1-8183-65AE-B712574817C8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A4D55A-244B-A60C-96EC-E72DD58F2F2E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BF1959-F8DB-CADF-FAEE-38D591B9EF63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A6D3D3-2866-519A-141C-F3449518AEDB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816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9202E-5B88-1FDD-43F9-5805B3DA8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CA97A-7303-4D36-1C9D-18B63B253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12FB34-0072-D926-E12A-906CEA3BF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a)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E87F6649-1C4C-01D1-2F55-28722CB22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2687" y="1550716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4F0549-4CA7-8937-B070-11B238BA2344}"/>
              </a:ext>
            </a:extLst>
          </p:cNvPr>
          <p:cNvSpPr txBox="1"/>
          <p:nvPr/>
        </p:nvSpPr>
        <p:spPr>
          <a:xfrm>
            <a:off x="6122276" y="3573183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>
                <a:latin typeface="Arial"/>
                <a:cs typeface="Arial"/>
              </a:rPr>
              <a:t>*</a:t>
            </a:r>
            <a:endParaRPr lang="en-GB" sz="3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6A90F-255D-BBE2-E4FE-6E8C0A3CAE54}"/>
              </a:ext>
            </a:extLst>
          </p:cNvPr>
          <p:cNvSpPr txBox="1"/>
          <p:nvPr/>
        </p:nvSpPr>
        <p:spPr>
          <a:xfrm>
            <a:off x="5324355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3B9CB3-7A84-8450-8957-9363EE9B9D3B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449C4-9B79-36A6-55A1-56B9EF4CF786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A043B-4F45-D658-3897-BB14D46318E3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923B58-FE4C-754D-D2CB-29A3C0A97CBD}"/>
              </a:ext>
            </a:extLst>
          </p:cNvPr>
          <p:cNvSpPr txBox="1"/>
          <p:nvPr/>
        </p:nvSpPr>
        <p:spPr>
          <a:xfrm>
            <a:off x="5970602" y="2912070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ECBB0E-FB9A-1EB8-EFBD-443A7687B5A4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43AF71-FEA0-E061-A979-3A58EFF0FD7F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720BB7-5A6D-9158-01D2-D332F6A00EDA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9257CA-00C2-098D-906C-C9A16ADF55AF}"/>
              </a:ext>
            </a:extLst>
          </p:cNvPr>
          <p:cNvSpPr txBox="1"/>
          <p:nvPr/>
        </p:nvSpPr>
        <p:spPr>
          <a:xfrm>
            <a:off x="7201019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4291ED-7704-C31B-6A6B-7E0F220FF9FA}"/>
              </a:ext>
            </a:extLst>
          </p:cNvPr>
          <p:cNvSpPr txBox="1"/>
          <p:nvPr/>
        </p:nvSpPr>
        <p:spPr>
          <a:xfrm>
            <a:off x="6595232" y="4200536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>
                <a:latin typeface="Arial"/>
                <a:cs typeface="Arial"/>
              </a:rPr>
              <a:t>*</a:t>
            </a:r>
            <a:endParaRPr lang="en-GB" sz="2000">
              <a:cs typeface="Arial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9BB120-EDBC-C25E-D75E-BC15F8173BC0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402B67-472A-E0EB-19EB-4FD283E1B466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GB">
              <a:cs typeface="Arial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300943-6812-ABA0-F87D-5FB1CE5CA0C9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latin typeface="Arial"/>
                <a:cs typeface="Arial"/>
              </a:rPr>
              <a:t>0</a:t>
            </a:r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D54441-BC1E-3A06-02F1-C284E009B72A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>
                <a:cs typeface="Arial"/>
              </a:rPr>
              <a:t>1</a:t>
            </a:r>
            <a:endParaRPr lang="en-GB">
              <a:cs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69D7DF-DDBF-6C5B-759F-EA2181DAFD31}"/>
              </a:ext>
            </a:extLst>
          </p:cNvPr>
          <p:cNvSpPr txBox="1"/>
          <p:nvPr/>
        </p:nvSpPr>
        <p:spPr>
          <a:xfrm>
            <a:off x="7222193" y="3573573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>
                <a:latin typeface="Arial"/>
                <a:cs typeface="Arial"/>
              </a:rPr>
              <a:t>*</a:t>
            </a:r>
            <a:endParaRPr lang="en-GB" sz="200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673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A24E-A6AC-D9C2-DC88-8D8841D0D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11167A-45ED-F823-18F7-E2D322E7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CC80F-28D4-5CB3-E2CE-0C184859C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b)</a:t>
            </a:r>
          </a:p>
        </p:txBody>
      </p:sp>
      <p:pic>
        <p:nvPicPr>
          <p:cNvPr id="6" name="Picture 5" descr="A grid of numbers and symbols&#10;&#10;AI-generated content may be incorrect.">
            <a:extLst>
              <a:ext uri="{FF2B5EF4-FFF2-40B4-BE49-F238E27FC236}">
                <a16:creationId xmlns:a16="http://schemas.microsoft.com/office/drawing/2014/main" id="{C5359BD6-3716-127C-6B47-A72C8BB8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73" t="1556" r="-183"/>
          <a:stretch>
            <a:fillRect/>
          </a:stretch>
        </p:blipFill>
        <p:spPr>
          <a:xfrm>
            <a:off x="3631195" y="865690"/>
            <a:ext cx="4929595" cy="4711938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96E57C-0EA6-7A57-F1A5-778D2C38B064}"/>
              </a:ext>
            </a:extLst>
          </p:cNvPr>
          <p:cNvSpPr/>
          <p:nvPr/>
        </p:nvSpPr>
        <p:spPr>
          <a:xfrm>
            <a:off x="5222232" y="2352674"/>
            <a:ext cx="673260" cy="2939968"/>
          </a:xfrm>
          <a:prstGeom prst="round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680A90-76C8-0511-79F0-C5AC332D2A14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73C8D-03A0-B4A9-CDBC-D7B55730E179}"/>
              </a:ext>
            </a:extLst>
          </p:cNvPr>
          <p:cNvSpPr/>
          <p:nvPr/>
        </p:nvSpPr>
        <p:spPr>
          <a:xfrm>
            <a:off x="6765522" y="2358881"/>
            <a:ext cx="673260" cy="2939968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550B69E-F381-9C0B-BF43-8B4B49042B4C}"/>
              </a:ext>
            </a:extLst>
          </p:cNvPr>
          <p:cNvSpPr/>
          <p:nvPr/>
        </p:nvSpPr>
        <p:spPr>
          <a:xfrm>
            <a:off x="6804105" y="3886318"/>
            <a:ext cx="1435259" cy="625032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EBDE187-52BA-1B59-04C9-D44A31DCE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60" y="5708007"/>
            <a:ext cx="737235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05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6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1B940-026F-E484-3F4F-52ABB7D17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id of numbers and letters&#10;&#10;AI-generated content may be incorrect.">
            <a:extLst>
              <a:ext uri="{FF2B5EF4-FFF2-40B4-BE49-F238E27FC236}">
                <a16:creationId xmlns:a16="http://schemas.microsoft.com/office/drawing/2014/main" id="{D724A065-72F8-EB05-EE34-5028B2C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956" y="980110"/>
            <a:ext cx="4769736" cy="457947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BDFEE2C-ABEC-3F8E-2458-41DE7476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BD01C-B180-5F37-09FC-6FBEB00E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b)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DBD8FDF-502B-F16B-4576-A0B8FA1BB406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9088859-044B-33F3-6524-7A5827CDD6BB}"/>
              </a:ext>
            </a:extLst>
          </p:cNvPr>
          <p:cNvSpPr/>
          <p:nvPr/>
        </p:nvSpPr>
        <p:spPr>
          <a:xfrm>
            <a:off x="6726941" y="2371964"/>
            <a:ext cx="1444905" cy="1377385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82BF0B-C577-07D8-2731-265D9C2A2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19" y="5708007"/>
            <a:ext cx="5810250" cy="419100"/>
          </a:xfrm>
          <a:prstGeom prst="rect">
            <a:avLst/>
          </a:prstGeom>
        </p:spPr>
      </p:pic>
      <p:sp>
        <p:nvSpPr>
          <p:cNvPr id="14" name="Right Bracket 13">
            <a:extLst>
              <a:ext uri="{FF2B5EF4-FFF2-40B4-BE49-F238E27FC236}">
                <a16:creationId xmlns:a16="http://schemas.microsoft.com/office/drawing/2014/main" id="{7C7AEB39-754A-289C-A57A-AE96D32BE786}"/>
              </a:ext>
            </a:extLst>
          </p:cNvPr>
          <p:cNvSpPr/>
          <p:nvPr/>
        </p:nvSpPr>
        <p:spPr>
          <a:xfrm rot="-5400000">
            <a:off x="5266592" y="4709744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C1EA404C-9570-CDEB-B589-7FA4E017C090}"/>
              </a:ext>
            </a:extLst>
          </p:cNvPr>
          <p:cNvSpPr/>
          <p:nvPr/>
        </p:nvSpPr>
        <p:spPr>
          <a:xfrm rot="5400000">
            <a:off x="5272454" y="2312376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61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8" grpId="0" animBg="1"/>
      <p:bldP spid="14" grpId="0" animBg="1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70E80-5302-A39B-EC5C-BD4AD4117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3193CB-A82F-0CD1-8A45-A6C664A45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8A46F8-0AEB-C5EE-978A-F13D3155B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a)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5A8A79-AEF8-D90F-BBA7-8A5EB167A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41313" y="1371600"/>
            <a:ext cx="3524133" cy="466459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ECDB47-0156-01D2-EFC5-81FFA71FFAB3}"/>
              </a:ext>
            </a:extLst>
          </p:cNvPr>
          <p:cNvSpPr/>
          <p:nvPr/>
        </p:nvSpPr>
        <p:spPr>
          <a:xfrm>
            <a:off x="5465179" y="5740077"/>
            <a:ext cx="1647462" cy="383893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1566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CA663-33F4-74DC-9DD7-5CA491C9C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30170B-C4AA-916D-E7B9-332B800A1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232D0B-C2A4-932A-5ED7-B687AA0E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b)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3868E3-6AE2-948C-AF1B-7508F14682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3148" y="2102915"/>
            <a:ext cx="2665553" cy="33177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4EE5D4B-FCB5-2134-B91A-F90957D7DC1B}"/>
              </a:ext>
            </a:extLst>
          </p:cNvPr>
          <p:cNvSpPr/>
          <p:nvPr/>
        </p:nvSpPr>
        <p:spPr>
          <a:xfrm>
            <a:off x="4394521" y="5170989"/>
            <a:ext cx="3422247" cy="3935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8203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75204-CD83-734E-6066-7AA89FC95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CCA6B87-AB16-DB78-DC78-143E2F13695F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r>
              <a:rPr lang="en-GB" kern="0">
                <a:cs typeface="Arial"/>
              </a:rPr>
              <a:t>b) Der </a:t>
            </a:r>
            <a:r>
              <a:rPr lang="en-GB" kern="0" err="1">
                <a:cs typeface="Arial"/>
              </a:rPr>
              <a:t>nächste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Zustand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ist</a:t>
            </a:r>
            <a:r>
              <a:rPr lang="en-GB" kern="0">
                <a:cs typeface="Arial"/>
              </a:rPr>
              <a:t> immer </a:t>
            </a:r>
            <a:r>
              <a:rPr lang="en-GB" kern="0" err="1">
                <a:cs typeface="Arial"/>
              </a:rPr>
              <a:t>nur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vom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aktuellen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Zustand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abhängig</a:t>
            </a:r>
            <a:r>
              <a:rPr lang="en-GB" kern="0">
                <a:cs typeface="Arial"/>
              </a:rPr>
              <a:t>, es </a:t>
            </a:r>
            <a:r>
              <a:rPr lang="en-GB" kern="0" err="1">
                <a:cs typeface="Arial"/>
              </a:rPr>
              <a:t>gibt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keine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weitere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Abgabe</a:t>
            </a:r>
            <a:r>
              <a:rPr lang="en-GB" kern="0">
                <a:cs typeface="Arial"/>
              </a:rPr>
              <a:t>, die den </a:t>
            </a:r>
            <a:r>
              <a:rPr lang="en-GB" kern="0" err="1">
                <a:cs typeface="Arial"/>
              </a:rPr>
              <a:t>Folgezustand</a:t>
            </a:r>
            <a:r>
              <a:rPr lang="en-GB" kern="0">
                <a:cs typeface="Arial"/>
              </a:rPr>
              <a:t> mitbestimmt. Es handelt sich um </a:t>
            </a:r>
            <a:r>
              <a:rPr lang="en-GB" kern="0" err="1">
                <a:cs typeface="Arial"/>
              </a:rPr>
              <a:t>einen</a:t>
            </a:r>
            <a:r>
              <a:rPr lang="en-GB" kern="0">
                <a:cs typeface="Arial"/>
              </a:rPr>
              <a:t> Moore-</a:t>
            </a:r>
            <a:r>
              <a:rPr lang="en-GB" kern="0" err="1">
                <a:cs typeface="Arial"/>
              </a:rPr>
              <a:t>Automaten</a:t>
            </a:r>
            <a:r>
              <a:rPr lang="en-GB" kern="0">
                <a:cs typeface="Arial"/>
              </a:rPr>
              <a:t>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DDECA35-74C4-379C-0D79-D8F54A0CE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3.3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29D2D660-2835-B464-8BDC-5C28B0DEA4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0619102"/>
              </p:ext>
            </p:extLst>
          </p:nvPr>
        </p:nvGraphicFramePr>
        <p:xfrm>
          <a:off x="1137574" y="1773238"/>
          <a:ext cx="10262350" cy="1854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26235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92644906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787207862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809945160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374642796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435224365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78711563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436126279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0154431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Q0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J2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K2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J1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K1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J0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K0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534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02237-37F9-D029-1E56-77FCACBDB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EF4144-83FE-D457-97E1-B61475EA7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3.4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683614B1-9CA5-3DA4-A0EE-F1D71BA5A5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1960290"/>
              </p:ext>
            </p:extLst>
          </p:nvPr>
        </p:nvGraphicFramePr>
        <p:xfrm>
          <a:off x="1137574" y="1773238"/>
          <a:ext cx="3283952" cy="1854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820988">
                  <a:extLst>
                    <a:ext uri="{9D8B030D-6E8A-4147-A177-3AD203B41FA5}">
                      <a16:colId xmlns:a16="http://schemas.microsoft.com/office/drawing/2014/main" val="9274008"/>
                    </a:ext>
                  </a:extLst>
                </a:gridCol>
                <a:gridCol w="820988">
                  <a:extLst>
                    <a:ext uri="{9D8B030D-6E8A-4147-A177-3AD203B41FA5}">
                      <a16:colId xmlns:a16="http://schemas.microsoft.com/office/drawing/2014/main" val="2926449063"/>
                    </a:ext>
                  </a:extLst>
                </a:gridCol>
                <a:gridCol w="820988">
                  <a:extLst>
                    <a:ext uri="{9D8B030D-6E8A-4147-A177-3AD203B41FA5}">
                      <a16:colId xmlns:a16="http://schemas.microsoft.com/office/drawing/2014/main" val="787207862"/>
                    </a:ext>
                  </a:extLst>
                </a:gridCol>
                <a:gridCol w="820988">
                  <a:extLst>
                    <a:ext uri="{9D8B030D-6E8A-4147-A177-3AD203B41FA5}">
                      <a16:colId xmlns:a16="http://schemas.microsoft.com/office/drawing/2014/main" val="38099451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R'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S'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</a:tbl>
          </a:graphicData>
        </a:graphic>
      </p:graphicFrame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0C44031-AF89-BF1E-163C-37AC1252D92D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r>
              <a:rPr lang="en-GB" kern="0">
                <a:cs typeface="Arial"/>
              </a:rPr>
              <a:t>b)</a:t>
            </a:r>
          </a:p>
        </p:txBody>
      </p:sp>
      <p:pic>
        <p:nvPicPr>
          <p:cNvPr id="3" name="Picture 2" descr="A diagram of a block diagram&#10;&#10;AI-generated content may be incorrect.">
            <a:extLst>
              <a:ext uri="{FF2B5EF4-FFF2-40B4-BE49-F238E27FC236}">
                <a16:creationId xmlns:a16="http://schemas.microsoft.com/office/drawing/2014/main" id="{3A7E99C7-6E0A-4683-D2D4-3E7F0C49DA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2" b="2865"/>
          <a:stretch>
            <a:fillRect/>
          </a:stretch>
        </p:blipFill>
        <p:spPr>
          <a:xfrm>
            <a:off x="1204852" y="3859914"/>
            <a:ext cx="7303399" cy="240460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6987159-F5B3-C6EE-B62B-B801237B3206}"/>
              </a:ext>
            </a:extLst>
          </p:cNvPr>
          <p:cNvCxnSpPr/>
          <p:nvPr/>
        </p:nvCxnSpPr>
        <p:spPr>
          <a:xfrm>
            <a:off x="2354317" y="5660696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677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4C01B-1956-2803-870D-E2619DF26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1E8B59C8-011E-9897-4876-21813176E173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r>
              <a:rPr lang="en-GB" kern="0">
                <a:cs typeface="Arial"/>
              </a:rPr>
              <a:t>b) </a:t>
            </a:r>
            <a:r>
              <a:rPr lang="en-GB" kern="0" err="1">
                <a:cs typeface="Arial"/>
              </a:rPr>
              <a:t>Multiplikation</a:t>
            </a:r>
            <a:r>
              <a:rPr lang="en-GB" kern="0">
                <a:cs typeface="Arial"/>
              </a:rPr>
              <a:t> von a und b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B4FE34C-1DB5-CD4A-2F53-AAE6F817A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3.5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56C89CC8-7341-8CA5-9473-31D1970DA5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1080033"/>
              </p:ext>
            </p:extLst>
          </p:nvPr>
        </p:nvGraphicFramePr>
        <p:xfrm>
          <a:off x="1137574" y="1773238"/>
          <a:ext cx="8209880" cy="2966717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26235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92644906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787207862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809945160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374642796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435224365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7871156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Takt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0469344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074299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2579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792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8912-4707-1A32-6F1E-3AD0C720B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6FCF2E-2964-6BFB-3110-707EF9340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3.6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B4AB020F-E3DF-FA63-98A8-8A0F77523BD5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r>
              <a:rPr lang="en-GB" kern="0">
                <a:cs typeface="Arial"/>
              </a:rPr>
              <a:t>b) Ein </a:t>
            </a:r>
            <a:r>
              <a:rPr lang="en-GB" kern="0" err="1">
                <a:cs typeface="Arial"/>
              </a:rPr>
              <a:t>Schaltwerk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enthält</a:t>
            </a:r>
            <a:r>
              <a:rPr lang="en-GB" kern="0">
                <a:cs typeface="Arial"/>
              </a:rPr>
              <a:t> </a:t>
            </a:r>
            <a:r>
              <a:rPr lang="en-GB" kern="0" err="1">
                <a:cs typeface="Arial"/>
              </a:rPr>
              <a:t>speichernde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Elemente</a:t>
            </a:r>
            <a:r>
              <a:rPr lang="en-GB" kern="0">
                <a:cs typeface="Arial"/>
              </a:rPr>
              <a:t>, </a:t>
            </a:r>
            <a:r>
              <a:rPr lang="en-GB" kern="0" err="1">
                <a:cs typeface="Arial"/>
              </a:rPr>
              <a:t>ein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Schaltnetz</a:t>
            </a:r>
            <a:r>
              <a:rPr lang="en-GB" kern="0">
                <a:cs typeface="Arial"/>
              </a:rPr>
              <a:t> nicht.</a:t>
            </a:r>
          </a:p>
        </p:txBody>
      </p:sp>
      <p:pic>
        <p:nvPicPr>
          <p:cNvPr id="7" name="Content Placeholder 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B5993DE-0DC0-824E-E302-41A3B053B5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044148" y="1771267"/>
            <a:ext cx="10243594" cy="2787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34620C-1B13-B232-5CE7-63E7A071D0AB}"/>
              </a:ext>
            </a:extLst>
          </p:cNvPr>
          <p:cNvCxnSpPr/>
          <p:nvPr/>
        </p:nvCxnSpPr>
        <p:spPr>
          <a:xfrm>
            <a:off x="10664141" y="3020027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6EC7A4D-654C-5F91-7B27-131E237A7F23}"/>
              </a:ext>
            </a:extLst>
          </p:cNvPr>
          <p:cNvCxnSpPr>
            <a:cxnSpLocks/>
          </p:cNvCxnSpPr>
          <p:nvPr/>
        </p:nvCxnSpPr>
        <p:spPr>
          <a:xfrm>
            <a:off x="9680292" y="4148558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AB9C05-EA17-7D14-3C5F-DE43382E3F3D}"/>
              </a:ext>
            </a:extLst>
          </p:cNvPr>
          <p:cNvCxnSpPr>
            <a:cxnSpLocks/>
          </p:cNvCxnSpPr>
          <p:nvPr/>
        </p:nvCxnSpPr>
        <p:spPr>
          <a:xfrm>
            <a:off x="9680291" y="4148557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640EC77-637D-C75C-9A1F-BA4C78CD868C}"/>
              </a:ext>
            </a:extLst>
          </p:cNvPr>
          <p:cNvCxnSpPr>
            <a:cxnSpLocks/>
          </p:cNvCxnSpPr>
          <p:nvPr/>
        </p:nvCxnSpPr>
        <p:spPr>
          <a:xfrm>
            <a:off x="9680293" y="2605268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6645936-35EB-D721-7349-53CFDFFF0507}"/>
              </a:ext>
            </a:extLst>
          </p:cNvPr>
          <p:cNvCxnSpPr>
            <a:cxnSpLocks/>
          </p:cNvCxnSpPr>
          <p:nvPr/>
        </p:nvCxnSpPr>
        <p:spPr>
          <a:xfrm>
            <a:off x="10664139" y="3440439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071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AF184-0C6A-2198-40C3-2817AA8E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951CA5-EC8B-CAFB-3356-16D9576EC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3.7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E7E94-C46F-0348-AC8E-ADCCF4BA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a)</a:t>
            </a: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pic>
        <p:nvPicPr>
          <p:cNvPr id="4" name="Picture 3" descr="A diagram of a grid&#10;&#10;AI-generated content may be incorrect.">
            <a:extLst>
              <a:ext uri="{FF2B5EF4-FFF2-40B4-BE49-F238E27FC236}">
                <a16:creationId xmlns:a16="http://schemas.microsoft.com/office/drawing/2014/main" id="{01F95633-012E-99E4-A9E6-C7407ACB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078" y="1776796"/>
            <a:ext cx="4972050" cy="40576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553FE32-D25C-80D2-5009-8889EA74E663}"/>
              </a:ext>
            </a:extLst>
          </p:cNvPr>
          <p:cNvSpPr/>
          <p:nvPr/>
        </p:nvSpPr>
        <p:spPr>
          <a:xfrm>
            <a:off x="5332248" y="3050627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DA4AFC-6670-6454-B897-47E79E7EAD3E}"/>
              </a:ext>
            </a:extLst>
          </p:cNvPr>
          <p:cNvSpPr/>
          <p:nvPr/>
        </p:nvSpPr>
        <p:spPr>
          <a:xfrm>
            <a:off x="5954109" y="3050626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17D7CC-1CBC-BC41-8283-AA123DCF9E38}"/>
              </a:ext>
            </a:extLst>
          </p:cNvPr>
          <p:cNvSpPr/>
          <p:nvPr/>
        </p:nvSpPr>
        <p:spPr>
          <a:xfrm>
            <a:off x="6575970" y="3672487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5AF5D9-8DC3-D00A-3C72-DF29993894D7}"/>
              </a:ext>
            </a:extLst>
          </p:cNvPr>
          <p:cNvSpPr/>
          <p:nvPr/>
        </p:nvSpPr>
        <p:spPr>
          <a:xfrm>
            <a:off x="6575969" y="4294348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F61AFC-8174-01FC-D31D-A34960AF5F00}"/>
              </a:ext>
            </a:extLst>
          </p:cNvPr>
          <p:cNvSpPr/>
          <p:nvPr/>
        </p:nvSpPr>
        <p:spPr>
          <a:xfrm>
            <a:off x="5332245" y="4924968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A9399B-7124-48BB-C7F7-0447B50B36EA}"/>
              </a:ext>
            </a:extLst>
          </p:cNvPr>
          <p:cNvSpPr/>
          <p:nvPr/>
        </p:nvSpPr>
        <p:spPr>
          <a:xfrm>
            <a:off x="5954106" y="4916209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ACC5A9-E19F-374D-EA4B-B436121AA008}"/>
              </a:ext>
            </a:extLst>
          </p:cNvPr>
          <p:cNvSpPr/>
          <p:nvPr/>
        </p:nvSpPr>
        <p:spPr>
          <a:xfrm>
            <a:off x="4710382" y="3672484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1C511BB-DA7A-5446-526E-D4F01DE9D95C}"/>
              </a:ext>
            </a:extLst>
          </p:cNvPr>
          <p:cNvSpPr/>
          <p:nvPr/>
        </p:nvSpPr>
        <p:spPr>
          <a:xfrm>
            <a:off x="4710381" y="4294346"/>
            <a:ext cx="625366" cy="607849"/>
          </a:xfrm>
          <a:prstGeom prst="rect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47931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9D3CC-2816-9E0B-FCD9-13464E255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0705A3-AB8C-DE02-3D93-D0D2B6591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3.7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B9FE27-A2D3-0528-14C1-92B796071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b)</a:t>
            </a: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pic>
        <p:nvPicPr>
          <p:cNvPr id="15" name="Picture 14" descr="A white rectangular object with black text&#10;&#10;AI-generated content may be incorrect.">
            <a:extLst>
              <a:ext uri="{FF2B5EF4-FFF2-40B4-BE49-F238E27FC236}">
                <a16:creationId xmlns:a16="http://schemas.microsoft.com/office/drawing/2014/main" id="{2CE87F01-6937-0C21-D3DD-8C0FA667E9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8" b="1647"/>
          <a:stretch>
            <a:fillRect/>
          </a:stretch>
        </p:blipFill>
        <p:spPr>
          <a:xfrm>
            <a:off x="1043828" y="1859705"/>
            <a:ext cx="10668000" cy="380364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D05524C-1A62-8431-AB7E-AE594531D225}"/>
              </a:ext>
            </a:extLst>
          </p:cNvPr>
          <p:cNvSpPr txBox="1"/>
          <p:nvPr/>
        </p:nvSpPr>
        <p:spPr>
          <a:xfrm>
            <a:off x="4147594" y="3173392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>
                <a:latin typeface="Arial"/>
                <a:cs typeface="Arial"/>
              </a:rPr>
              <a:t>X</a:t>
            </a:r>
            <a:endParaRPr lang="en-GB" sz="4400">
              <a:latin typeface="Arial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F7A1D5-16DC-B37C-C635-7C82D37D665C}"/>
              </a:ext>
            </a:extLst>
          </p:cNvPr>
          <p:cNvSpPr txBox="1"/>
          <p:nvPr/>
        </p:nvSpPr>
        <p:spPr>
          <a:xfrm>
            <a:off x="8931796" y="3173391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>
                <a:latin typeface="Arial"/>
                <a:cs typeface="Arial"/>
              </a:rPr>
              <a:t>X</a:t>
            </a:r>
            <a:endParaRPr lang="en-GB" sz="4400">
              <a:latin typeface="Arial"/>
              <a:cs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DE88BE-38A8-CB65-F954-E576AA464FE0}"/>
              </a:ext>
            </a:extLst>
          </p:cNvPr>
          <p:cNvSpPr txBox="1"/>
          <p:nvPr/>
        </p:nvSpPr>
        <p:spPr>
          <a:xfrm>
            <a:off x="10012099" y="3173390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>
                <a:latin typeface="Arial"/>
                <a:cs typeface="Arial"/>
              </a:rPr>
              <a:t>X</a:t>
            </a:r>
            <a:endParaRPr lang="en-GB" sz="4400">
              <a:latin typeface="Arial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091E4F-EC43-08E3-6828-C6A45FBBCFFF}"/>
              </a:ext>
            </a:extLst>
          </p:cNvPr>
          <p:cNvSpPr txBox="1"/>
          <p:nvPr/>
        </p:nvSpPr>
        <p:spPr>
          <a:xfrm>
            <a:off x="10880200" y="4764909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>
                <a:latin typeface="Arial"/>
                <a:cs typeface="Arial"/>
              </a:rPr>
              <a:t>X</a:t>
            </a:r>
            <a:endParaRPr lang="en-GB" sz="4400">
              <a:latin typeface="Arial"/>
              <a:cs typeface="Arial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983CBF-02FE-1936-B604-59FC5A24ECFF}"/>
              </a:ext>
            </a:extLst>
          </p:cNvPr>
          <p:cNvSpPr txBox="1"/>
          <p:nvPr/>
        </p:nvSpPr>
        <p:spPr>
          <a:xfrm>
            <a:off x="4147592" y="3945035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>
                <a:latin typeface="Arial"/>
                <a:cs typeface="Arial"/>
              </a:rPr>
              <a:t>X</a:t>
            </a:r>
            <a:endParaRPr lang="en-GB" sz="4400">
              <a:latin typeface="Arial"/>
              <a:cs typeface="Arial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9AA9DA-ED4D-94F3-AC40-D0FBD476C025}"/>
              </a:ext>
            </a:extLst>
          </p:cNvPr>
          <p:cNvSpPr txBox="1"/>
          <p:nvPr/>
        </p:nvSpPr>
        <p:spPr>
          <a:xfrm>
            <a:off x="7890073" y="3945035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>
                <a:latin typeface="Arial"/>
                <a:cs typeface="Arial"/>
              </a:rPr>
              <a:t>X</a:t>
            </a:r>
            <a:endParaRPr lang="en-GB" sz="4400">
              <a:latin typeface="Arial"/>
              <a:cs typeface="Arial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EBD727-531B-A642-5EE3-DB9BEFA66D4C}"/>
              </a:ext>
            </a:extLst>
          </p:cNvPr>
          <p:cNvSpPr txBox="1"/>
          <p:nvPr/>
        </p:nvSpPr>
        <p:spPr>
          <a:xfrm>
            <a:off x="10880199" y="3945035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>
                <a:latin typeface="Arial"/>
                <a:cs typeface="Arial"/>
              </a:rPr>
              <a:t>X</a:t>
            </a:r>
            <a:endParaRPr lang="en-GB" sz="4400">
              <a:latin typeface="Arial"/>
              <a:cs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5C9599-A282-1268-36BB-4F413CB96FF3}"/>
              </a:ext>
            </a:extLst>
          </p:cNvPr>
          <p:cNvSpPr txBox="1"/>
          <p:nvPr/>
        </p:nvSpPr>
        <p:spPr>
          <a:xfrm>
            <a:off x="3202326" y="4764908"/>
            <a:ext cx="51121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4000">
                <a:latin typeface="Arial"/>
                <a:cs typeface="Arial"/>
              </a:rPr>
              <a:t>X</a:t>
            </a:r>
            <a:endParaRPr lang="en-GB" sz="44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779613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F9FFB-6560-8F1E-6F4C-64511D3A3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F37715-0D59-D06B-AB2C-486BD68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4.1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A77A4-8F6D-081F-9391-029226F59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a)</a:t>
            </a: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r>
              <a:rPr lang="en-GB">
                <a:cs typeface="Arial"/>
              </a:rPr>
              <a:t>b)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AA5F5E-AA0F-BC6B-91AD-E52B0DB9A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655" y="1716963"/>
            <a:ext cx="6779172" cy="481176"/>
          </a:xfrm>
          <a:prstGeom prst="rect">
            <a:avLst/>
          </a:prstGeom>
        </p:spPr>
      </p:pic>
      <p:pic>
        <p:nvPicPr>
          <p:cNvPr id="8" name="Picture 7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B5197F23-D08C-F676-62EA-8F6386882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064" y="2387271"/>
            <a:ext cx="2815458" cy="2626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24FBF2-AFBB-CDCD-D989-844E3645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813" y="5102171"/>
            <a:ext cx="376237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0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7467C-543D-1233-B796-516A6E5B9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02FA69-4E4F-C9F4-D744-DC9720498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F0A2E6-2043-3F44-4FAF-454862755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en-GB">
                <a:cs typeface="Arial"/>
              </a:rPr>
              <a:t>6 Knoten und 10 </a:t>
            </a:r>
            <a:r>
              <a:rPr lang="en-GB" err="1">
                <a:cs typeface="Arial"/>
              </a:rPr>
              <a:t>Zweige</a:t>
            </a:r>
            <a:r>
              <a:rPr lang="en-GB">
                <a:cs typeface="Arial"/>
              </a:rPr>
              <a:t>: </a:t>
            </a:r>
            <a:endParaRPr lang="en-US"/>
          </a:p>
          <a:p>
            <a:pPr marL="0" indent="0">
              <a:buNone/>
            </a:pPr>
            <a:r>
              <a:rPr lang="en-GB">
                <a:cs typeface="Arial"/>
              </a:rPr>
              <a:t>    m = z - (k-1) = 10 – 5 = 5 </a:t>
            </a:r>
            <a:r>
              <a:rPr lang="en-GB" err="1">
                <a:cs typeface="Arial"/>
              </a:rPr>
              <a:t>unabhängige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Maschengleichungen</a:t>
            </a: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0CA1B3B7-9633-10E4-4B65-E50F4E22C4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517" y="2426313"/>
            <a:ext cx="7593725" cy="383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621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669D-181B-5457-72E4-733900FCA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5BE223-7331-D302-EA12-F7786CDBA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98CE90-EC75-4CE4-6BED-5925E90A2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b) </a:t>
            </a: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pic>
        <p:nvPicPr>
          <p:cNvPr id="3" name="Picture 2" descr="A black background with white circles&#10;&#10;AI-generated content may be incorrect.">
            <a:extLst>
              <a:ext uri="{FF2B5EF4-FFF2-40B4-BE49-F238E27FC236}">
                <a16:creationId xmlns:a16="http://schemas.microsoft.com/office/drawing/2014/main" id="{D7206A18-DF2A-8FD0-094B-28D39A8B8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296" y="874190"/>
            <a:ext cx="5294092" cy="53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217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C84B-2F88-FFF8-B544-28345B348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74A6A7-28A8-85B5-3379-184F61E19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683C92-8F9A-AC9D-C9C2-B2CF265C5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c) </a:t>
            </a: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4F185DE-55D1-6B84-64CF-616C64BD7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9326" y="1647041"/>
            <a:ext cx="7118309" cy="356391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E72670B-9C3E-D71D-C990-1D720B0D9ECA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1896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6CD1D-5743-2F49-851E-20BC8536E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2378E7-2852-6F4B-4E59-7DAF596A6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318D9-A6A2-C7B4-9E00-3326E6F3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d) </a:t>
            </a: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D270DA-534A-18F0-6A32-7A1F004BCFF7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DC2770F5-D99D-D103-198E-D3EA1814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86" r="1042" b="1024"/>
          <a:stretch>
            <a:fillRect/>
          </a:stretch>
        </p:blipFill>
        <p:spPr>
          <a:xfrm>
            <a:off x="1254466" y="1714500"/>
            <a:ext cx="4590119" cy="216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7209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47F33-5EC5-B9F7-B0D6-41508B790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CC4FAA-AFD2-C32C-3FE8-627193F1A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28317A-EEC7-8BD2-BF79-A50C4D90F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>
                <a:cs typeface="Arial"/>
              </a:rPr>
              <a:t>e) k-1 = 6-1 = 5 linear </a:t>
            </a:r>
            <a:r>
              <a:rPr lang="en-GB" err="1">
                <a:cs typeface="Arial"/>
              </a:rPr>
              <a:t>unabhängige</a:t>
            </a:r>
            <a:r>
              <a:rPr lang="en-GB">
                <a:cs typeface="Arial"/>
              </a:rPr>
              <a:t> </a:t>
            </a:r>
            <a:r>
              <a:rPr lang="en-GB" err="1">
                <a:cs typeface="Arial"/>
              </a:rPr>
              <a:t>Knotengleichungen</a:t>
            </a: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F66330-5259-E40E-1585-6C2EDADC4C3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math equations with black text&#10;&#10;AI-generated content may be incorrect.">
            <a:extLst>
              <a:ext uri="{FF2B5EF4-FFF2-40B4-BE49-F238E27FC236}">
                <a16:creationId xmlns:a16="http://schemas.microsoft.com/office/drawing/2014/main" id="{5B826573-1DDA-DFFB-0561-49099777D3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1" b="-347"/>
          <a:stretch>
            <a:fillRect/>
          </a:stretch>
        </p:blipFill>
        <p:spPr>
          <a:xfrm>
            <a:off x="1054320" y="2325306"/>
            <a:ext cx="6601291" cy="279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157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9687-5460-4384-9550-05DF2AF0C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44CE10-4E39-D2F0-66FA-A29B94FD5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4.3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F0C196-0D08-E6B2-8213-2C56F168AF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DCD99-1F1B-7E93-4C99-462A9DC46E5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Inhaltsplatzhalter 3">
            <a:extLst>
              <a:ext uri="{FF2B5EF4-FFF2-40B4-BE49-F238E27FC236}">
                <a16:creationId xmlns:a16="http://schemas.microsoft.com/office/drawing/2014/main" id="{4065C672-6B47-4234-1C45-B8E3F418649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2460961"/>
              </p:ext>
            </p:extLst>
          </p:nvPr>
        </p:nvGraphicFramePr>
        <p:xfrm>
          <a:off x="2574764" y="1908276"/>
          <a:ext cx="7053792" cy="2748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26896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3526896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Größe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Verhalten A oder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/>
                        <a:t>i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/>
                        <a:t>i</a:t>
                      </a:r>
                      <a:r>
                        <a:rPr lang="de-DE" sz="1100"/>
                        <a:t>1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/>
                        <a:t>u</a:t>
                      </a:r>
                      <a:r>
                        <a:rPr lang="de-DE" sz="1100"/>
                        <a:t>L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/>
                        <a:t>i</a:t>
                      </a:r>
                      <a:r>
                        <a:rPr lang="de-DE" sz="1100"/>
                        <a:t>L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/>
                        <a:t>u</a:t>
                      </a:r>
                      <a:r>
                        <a:rPr lang="de-DE" sz="11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844427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/>
                        <a:t>u</a:t>
                      </a:r>
                      <a:r>
                        <a:rPr lang="de-DE" sz="11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55803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6470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4D45B-C504-0453-945E-CE4933B66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7B8576D-3F6E-9269-1C5C-769B7A9B0A61}"/>
              </a:ext>
            </a:extLst>
          </p:cNvPr>
          <p:cNvSpPr txBox="1">
            <a:spLocks/>
          </p:cNvSpPr>
          <p:nvPr/>
        </p:nvSpPr>
        <p:spPr bwMode="auto">
          <a:xfrm>
            <a:off x="962400" y="1771310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GB" kern="0">
                <a:cs typeface="Arial"/>
              </a:rPr>
              <a:t>a) CMOS, da die </a:t>
            </a:r>
            <a:r>
              <a:rPr lang="en-GB" kern="0" err="1">
                <a:cs typeface="Arial"/>
              </a:rPr>
              <a:t>Schaltung</a:t>
            </a:r>
            <a:r>
              <a:rPr lang="en-GB" kern="0">
                <a:cs typeface="Arial"/>
              </a:rPr>
              <a:t> </a:t>
            </a:r>
            <a:r>
              <a:rPr lang="en-GB" kern="0" err="1">
                <a:cs typeface="Arial"/>
              </a:rPr>
              <a:t>aus</a:t>
            </a:r>
            <a:r>
              <a:rPr lang="en-GB" kern="0">
                <a:cs typeface="Arial"/>
              </a:rPr>
              <a:t> PMOS und NMOS </a:t>
            </a:r>
            <a:r>
              <a:rPr lang="en-GB" kern="0" err="1">
                <a:cs typeface="Arial"/>
              </a:rPr>
              <a:t>besteht</a:t>
            </a:r>
          </a:p>
          <a:p>
            <a:pPr marL="0" indent="0">
              <a:buFontTx/>
              <a:buNone/>
            </a:pPr>
            <a:endParaRPr lang="en-GB" kern="0">
              <a:cs typeface="Arial"/>
            </a:endParaRPr>
          </a:p>
          <a:p>
            <a:pPr marL="0" indent="0">
              <a:buFontTx/>
              <a:buNone/>
            </a:pPr>
            <a:r>
              <a:rPr lang="en-GB" kern="0">
                <a:cs typeface="Arial"/>
              </a:rPr>
              <a:t>b)</a:t>
            </a: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  <a:p>
            <a:pPr marL="0" indent="0">
              <a:buNone/>
            </a:pPr>
            <a:endParaRPr lang="en-GB" kern="0">
              <a:cs typeface="Arial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C8DD80C-4601-6D09-8BE0-BB9C4C148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5.1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134EE9-B2BA-7DB2-7FDF-19C1B2518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  <a:p>
            <a:pPr marL="0" indent="0">
              <a:buNone/>
            </a:pPr>
            <a:endParaRPr lang="en-GB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1B61B2-EF98-0CC3-6506-4CCE4C63CC8C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Inhaltsplatzhalter 3">
            <a:extLst>
              <a:ext uri="{FF2B5EF4-FFF2-40B4-BE49-F238E27FC236}">
                <a16:creationId xmlns:a16="http://schemas.microsoft.com/office/drawing/2014/main" id="{1ABF4556-9B27-183D-CCBA-1BED8863B5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4374995"/>
              </p:ext>
            </p:extLst>
          </p:nvPr>
        </p:nvGraphicFramePr>
        <p:xfrm>
          <a:off x="2121423" y="2438783"/>
          <a:ext cx="3009415" cy="18796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925974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974201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109240">
                  <a:extLst>
                    <a:ext uri="{9D8B030D-6E8A-4147-A177-3AD203B41FA5}">
                      <a16:colId xmlns:a16="http://schemas.microsoft.com/office/drawing/2014/main" val="39198965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/>
                        <a:t>0</a:t>
                      </a:r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119FA2A9-6B99-4BE1-C7ED-0D5639B8A7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4" r="-752" b="11667"/>
          <a:stretch>
            <a:fillRect/>
          </a:stretch>
        </p:blipFill>
        <p:spPr>
          <a:xfrm>
            <a:off x="5983568" y="2438783"/>
            <a:ext cx="1295543" cy="50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3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FF489-DAE4-DE09-DB09-90B9546E1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F55D7-EEAD-70BD-EC81-73FF06DA1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5.1</a:t>
            </a:r>
          </a:p>
        </p:txBody>
      </p:sp>
      <p:pic>
        <p:nvPicPr>
          <p:cNvPr id="8" name="Content Placeholder 7" descr="A diagram of a computer circuit&#10;&#10;AI-generated content may be incorrect.">
            <a:extLst>
              <a:ext uri="{FF2B5EF4-FFF2-40B4-BE49-F238E27FC236}">
                <a16:creationId xmlns:a16="http://schemas.microsoft.com/office/drawing/2014/main" id="{1C5F5E8C-7205-0A40-8C73-9A71EA0BB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115028" y="1842055"/>
            <a:ext cx="7225862" cy="3724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FCD34C2-9610-37F2-ED4A-13C88E8A6DF2}"/>
              </a:ext>
            </a:extLst>
          </p:cNvPr>
          <p:cNvSpPr/>
          <p:nvPr/>
        </p:nvSpPr>
        <p:spPr>
          <a:xfrm>
            <a:off x="4666593" y="2507593"/>
            <a:ext cx="4006193" cy="102826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AE80AD-6DD8-19A8-5C74-2FC2DF8D263B}"/>
              </a:ext>
            </a:extLst>
          </p:cNvPr>
          <p:cNvSpPr/>
          <p:nvPr/>
        </p:nvSpPr>
        <p:spPr>
          <a:xfrm>
            <a:off x="5270937" y="3777591"/>
            <a:ext cx="3331780" cy="128226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EBCB35-A047-D45B-E319-BF3B513BEFD8}"/>
              </a:ext>
            </a:extLst>
          </p:cNvPr>
          <p:cNvSpPr/>
          <p:nvPr/>
        </p:nvSpPr>
        <p:spPr>
          <a:xfrm>
            <a:off x="3046246" y="3427245"/>
            <a:ext cx="1194677" cy="53778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FFEC96-183E-F2ED-3F71-B8FAB59E762B}"/>
              </a:ext>
            </a:extLst>
          </p:cNvPr>
          <p:cNvSpPr/>
          <p:nvPr/>
        </p:nvSpPr>
        <p:spPr>
          <a:xfrm>
            <a:off x="3046248" y="2630212"/>
            <a:ext cx="1194676" cy="57281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9025942B-C9F1-6462-88E7-256C849F3175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>
                <a:cs typeface="Arial"/>
              </a:rPr>
              <a:t>c) </a:t>
            </a:r>
          </a:p>
          <a:p>
            <a:pPr marL="0" indent="0">
              <a:buFontTx/>
              <a:buNone/>
            </a:pPr>
            <a:endParaRPr lang="en-GB" kern="0">
              <a:cs typeface="Arial"/>
            </a:endParaRPr>
          </a:p>
          <a:p>
            <a:pPr marL="0" indent="0">
              <a:buFontTx/>
              <a:buNone/>
            </a:pPr>
            <a:endParaRPr lang="en-GB" kern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9166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DB7D5-EEEC-0537-4BCE-CF7AA846C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5.2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6CC7C3B0-DA10-04E8-5188-1F4AAEEB9C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386515" y="1780738"/>
            <a:ext cx="7426907" cy="43379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5094270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B52BA-F8C1-A414-78B8-0261F571F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DD652-98B1-910C-73FF-47B97091B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Aufgabe 5.2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36AB0-9B76-FFD1-2635-E08DB525B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 Die </a:t>
            </a:r>
            <a:r>
              <a:rPr lang="en-GB" dirty="0" err="1">
                <a:cs typeface="Arial"/>
              </a:rPr>
              <a:t>graue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Schicht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ist</a:t>
            </a:r>
            <a:r>
              <a:rPr lang="en-GB" dirty="0">
                <a:cs typeface="Arial"/>
              </a:rPr>
              <a:t> die </a:t>
            </a:r>
            <a:r>
              <a:rPr lang="en-GB" dirty="0" err="1">
                <a:cs typeface="Arial"/>
              </a:rPr>
              <a:t>Oxidschicht</a:t>
            </a:r>
            <a:r>
              <a:rPr lang="en-GB" dirty="0">
                <a:cs typeface="Arial"/>
              </a:rPr>
              <a:t>. Sie </a:t>
            </a:r>
            <a:r>
              <a:rPr lang="en-GB" dirty="0" err="1">
                <a:cs typeface="Arial"/>
              </a:rPr>
              <a:t>isoliert</a:t>
            </a:r>
            <a:r>
              <a:rPr lang="en-GB" dirty="0">
                <a:cs typeface="Arial"/>
              </a:rPr>
              <a:t> die Gate-</a:t>
            </a:r>
            <a:r>
              <a:rPr lang="en-GB" dirty="0" err="1">
                <a:cs typeface="Arial"/>
              </a:rPr>
              <a:t>Elektrode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vom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Substrat</a:t>
            </a:r>
            <a:r>
              <a:rPr lang="en-GB" dirty="0"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8772283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846</Words>
  <Application>Microsoft Office PowerPoint</Application>
  <PresentationFormat>Widescreen</PresentationFormat>
  <Paragraphs>365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Cambria Math</vt:lpstr>
      <vt:lpstr>Wingdings</vt:lpstr>
      <vt:lpstr>UT_pptmaster_mathnat</vt:lpstr>
      <vt:lpstr>Technische Informatik 1</vt:lpstr>
      <vt:lpstr>Aufgabe 1.1</vt:lpstr>
      <vt:lpstr>Aufgabe 1.2</vt:lpstr>
      <vt:lpstr>Aufgabe 1.3</vt:lpstr>
      <vt:lpstr>Aufgabe 2.1</vt:lpstr>
      <vt:lpstr>Aufgabe 2.1</vt:lpstr>
      <vt:lpstr>Aufgabe 2.2</vt:lpstr>
      <vt:lpstr>Aufgabe 3.1</vt:lpstr>
      <vt:lpstr>Aufgabe 3.1</vt:lpstr>
      <vt:lpstr>Aufgabe 3.1</vt:lpstr>
      <vt:lpstr>Aufgabe 3.1</vt:lpstr>
      <vt:lpstr>Aufgabe 3.2</vt:lpstr>
      <vt:lpstr>Aufgabe 3.2</vt:lpstr>
      <vt:lpstr>Aufgabe 3.3</vt:lpstr>
      <vt:lpstr>Aufgabe 3.4</vt:lpstr>
      <vt:lpstr>Aufgabe 3.5</vt:lpstr>
      <vt:lpstr>Aufgabe 3.6</vt:lpstr>
      <vt:lpstr>Aufgabe 3.7</vt:lpstr>
      <vt:lpstr>Aufgabe 3.7</vt:lpstr>
      <vt:lpstr>Aufgabe 4.1</vt:lpstr>
      <vt:lpstr>Aufgabe 4.2</vt:lpstr>
      <vt:lpstr>Aufgabe 4.2</vt:lpstr>
      <vt:lpstr>Aufgabe 4.2</vt:lpstr>
      <vt:lpstr>Aufgabe 4.2</vt:lpstr>
      <vt:lpstr>Aufgabe 4.2</vt:lpstr>
      <vt:lpstr>Aufgabe 4.3</vt:lpstr>
      <vt:lpstr>Aufgabe 5.1</vt:lpstr>
      <vt:lpstr>Aufgabe 5.1</vt:lpstr>
      <vt:lpstr>Aufgabe 5.2</vt:lpstr>
      <vt:lpstr>Aufgabe 5.2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lastModifiedBy>adam könig</cp:lastModifiedBy>
  <cp:revision>60</cp:revision>
  <cp:lastPrinted>2023-11-29T22:31:04Z</cp:lastPrinted>
  <dcterms:created xsi:type="dcterms:W3CDTF">2012-05-03T09:32:35Z</dcterms:created>
  <dcterms:modified xsi:type="dcterms:W3CDTF">2026-02-10T16:32:43Z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