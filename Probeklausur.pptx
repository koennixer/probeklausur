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26"/>
  </p:notesMasterIdLst>
  <p:handoutMasterIdLst>
    <p:handoutMasterId r:id="rId27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50" r:id="rId11"/>
    <p:sldId id="1051" r:id="rId12"/>
    <p:sldId id="1052" r:id="rId13"/>
    <p:sldId id="1053" r:id="rId14"/>
    <p:sldId id="1063" r:id="rId15"/>
    <p:sldId id="1064" r:id="rId16"/>
    <p:sldId id="1054" r:id="rId17"/>
    <p:sldId id="1055" r:id="rId18"/>
    <p:sldId id="1056" r:id="rId19"/>
    <p:sldId id="1057" r:id="rId20"/>
    <p:sldId id="1058" r:id="rId21"/>
    <p:sldId id="1059" r:id="rId22"/>
    <p:sldId id="1060" r:id="rId23"/>
    <p:sldId id="1061" r:id="rId24"/>
    <p:sldId id="1062" r:id="rId25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50"/>
            <p14:sldId id="1051"/>
            <p14:sldId id="1052"/>
            <p14:sldId id="1053"/>
            <p14:sldId id="1063"/>
            <p14:sldId id="1064"/>
            <p14:sldId id="1054"/>
            <p14:sldId id="1055"/>
            <p14:sldId id="1056"/>
            <p14:sldId id="1057"/>
            <p14:sldId id="1058"/>
            <p14:sldId id="1059"/>
            <p14:sldId id="1060"/>
            <p14:sldId id="1061"/>
            <p14:sldId id="1062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EA013C-0C4C-7CC9-3073-C215768A4D35}" v="422" dt="2026-02-08T21:59:01.042"/>
    <p1510:client id="{CF275D93-1AF9-5CD7-90BA-CB7126BBAC7F}" v="818" dt="2026-02-09T10:32:47.950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1"/>
  </p:normalViewPr>
  <p:slideViewPr>
    <p:cSldViewPr snapToGrid="0">
      <p:cViewPr varScale="1">
        <p:scale>
          <a:sx n="55" d="100"/>
          <a:sy n="55" d="100"/>
        </p:scale>
        <p:origin x="960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09.02.2026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0E80-5302-A39B-EC5C-BD4AD411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193CB-A82F-0CD1-8A45-A6C664A4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8A46F8-0AEB-C5EE-978A-F13D3155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5A8A79-AEF8-D90F-BBA7-8A5EB167A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1313" y="1371600"/>
            <a:ext cx="3524133" cy="4664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ECDB47-0156-01D2-EFC5-81FFA71FFAB3}"/>
              </a:ext>
            </a:extLst>
          </p:cNvPr>
          <p:cNvSpPr/>
          <p:nvPr/>
        </p:nvSpPr>
        <p:spPr>
          <a:xfrm>
            <a:off x="5465179" y="5740077"/>
            <a:ext cx="1647462" cy="38389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156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CA663-33F4-74DC-9DD7-5CA491C9C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0170B-C4AA-916D-E7B9-332B800A1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232D0B-C2A4-932A-5ED7-B687AA0E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3868E3-6AE2-948C-AF1B-7508F14682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148" y="2102915"/>
            <a:ext cx="2665553" cy="331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4EE5D4B-FCB5-2134-B91A-F90957D7DC1B}"/>
              </a:ext>
            </a:extLst>
          </p:cNvPr>
          <p:cNvSpPr/>
          <p:nvPr/>
        </p:nvSpPr>
        <p:spPr>
          <a:xfrm>
            <a:off x="4394521" y="5170989"/>
            <a:ext cx="3422247" cy="3935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8203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 dirty="0">
                <a:cs typeface="Arial"/>
              </a:rPr>
              <a:t>6 Knoten und 10 </a:t>
            </a:r>
            <a:r>
              <a:rPr lang="en-GB" dirty="0" err="1">
                <a:cs typeface="Arial"/>
              </a:rPr>
              <a:t>Zweige</a:t>
            </a:r>
            <a:r>
              <a:rPr lang="en-GB" dirty="0">
                <a:cs typeface="Arial"/>
              </a:rPr>
              <a:t>: </a:t>
            </a:r>
            <a:endParaRPr lang="en-US" dirty="0"/>
          </a:p>
          <a:p>
            <a:pPr marL="0" indent="0">
              <a:buNone/>
            </a:pPr>
            <a:r>
              <a:rPr lang="en-GB" dirty="0">
                <a:cs typeface="Arial"/>
              </a:rPr>
              <a:t>    m = z - (k-1) = 10 – 5 = 5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Maschengleichungen</a:t>
            </a: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6576E2D-12A0-6B28-41FB-1D1AE4A72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c)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d)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e) k-1 = 6-1 = 5 linear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i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i</a:t>
                          </a:r>
                          <a:r>
                            <a:rPr lang="de-DE" sz="1100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u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i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70838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1538" r="-100691" b="-5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101538" r="-691" b="-5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1538" r="-100691" b="-4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201538" r="-691" b="-4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1538" r="-100691" b="-3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301538" r="-691" b="-3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1538" r="-100691" b="-2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401538" r="-691" b="-2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4D45B-C504-0453-945E-CE4933B66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8DD80C-4601-6D09-8BE0-BB9C4C14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34EE9-B2BA-7DB2-7FDF-19C1B2518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61B2-EF98-0CC3-6506-4CCE4C63CC8C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1ABF4556-9B27-183D-CCBA-1BED8863B50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3067783"/>
                  </p:ext>
                </p:extLst>
              </p:nvPr>
            </p:nvGraphicFramePr>
            <p:xfrm>
              <a:off x="2121423" y="2438783"/>
              <a:ext cx="3009415" cy="2185544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925974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974201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109240">
                      <a:extLst>
                        <a:ext uri="{9D8B030D-6E8A-4147-A177-3AD203B41FA5}">
                          <a16:colId xmlns:a16="http://schemas.microsoft.com/office/drawing/2014/main" val="39198965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1ABF4556-9B27-183D-CCBA-1BED8863B50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3067783"/>
                  </p:ext>
                </p:extLst>
              </p:nvPr>
            </p:nvGraphicFramePr>
            <p:xfrm>
              <a:off x="2121423" y="2438783"/>
              <a:ext cx="3009415" cy="2185544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925974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974201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109240">
                      <a:extLst>
                        <a:ext uri="{9D8B030D-6E8A-4147-A177-3AD203B41FA5}">
                          <a16:colId xmlns:a16="http://schemas.microsoft.com/office/drawing/2014/main" val="39198965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101538" r="-227632" b="-38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101538" r="-116250" b="-38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8919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204688" r="-227632" b="-289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204688" r="-116250" b="-289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185714" r="-227632" b="-7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185714" r="-116250" b="-7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8919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468750" r="-227632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468750" r="-116250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7B8576D-3F6E-9269-1C5C-769B7A9B0A61}"/>
              </a:ext>
            </a:extLst>
          </p:cNvPr>
          <p:cNvSpPr txBox="1">
            <a:spLocks/>
          </p:cNvSpPr>
          <p:nvPr/>
        </p:nvSpPr>
        <p:spPr bwMode="auto">
          <a:xfrm>
            <a:off x="962400" y="1771310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GB" kern="0" dirty="0">
                <a:cs typeface="Arial"/>
              </a:rPr>
              <a:t>a) CMOS, da die </a:t>
            </a:r>
            <a:r>
              <a:rPr lang="en-GB" kern="0" dirty="0" err="1">
                <a:cs typeface="Arial"/>
              </a:rPr>
              <a:t>Schaltung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aus</a:t>
            </a:r>
            <a:r>
              <a:rPr lang="en-GB" kern="0" dirty="0">
                <a:cs typeface="Arial"/>
              </a:rPr>
              <a:t> PMOS und NMOS </a:t>
            </a:r>
            <a:r>
              <a:rPr lang="en-GB" kern="0" dirty="0" err="1">
                <a:cs typeface="Arial"/>
              </a:rPr>
              <a:t>besteht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b)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9FA2A9-6B99-4BE1-C7ED-0D5639B8A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4" r="-752" b="11667"/>
          <a:stretch>
            <a:fillRect/>
          </a:stretch>
        </p:blipFill>
        <p:spPr>
          <a:xfrm>
            <a:off x="5983568" y="2438783"/>
            <a:ext cx="1295543" cy="50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F489-DAE4-DE09-DB09-90B9546E1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F55D7-EEAD-70BD-EC81-73FF06DA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pic>
        <p:nvPicPr>
          <p:cNvPr id="8" name="Content Placeholder 7" descr="A diagram of a computer circuit&#10;&#10;AI-generated content may be incorrect.">
            <a:extLst>
              <a:ext uri="{FF2B5EF4-FFF2-40B4-BE49-F238E27FC236}">
                <a16:creationId xmlns:a16="http://schemas.microsoft.com/office/drawing/2014/main" id="{1C5F5E8C-7205-0A40-8C73-9A71EA0BB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115028" y="1842055"/>
            <a:ext cx="7225862" cy="3724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FCD34C2-9610-37F2-ED4A-13C88E8A6DF2}"/>
              </a:ext>
            </a:extLst>
          </p:cNvPr>
          <p:cNvSpPr/>
          <p:nvPr/>
        </p:nvSpPr>
        <p:spPr>
          <a:xfrm>
            <a:off x="4666593" y="2507593"/>
            <a:ext cx="4006193" cy="102826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E80AD-6DD8-19A8-5C74-2FC2DF8D263B}"/>
              </a:ext>
            </a:extLst>
          </p:cNvPr>
          <p:cNvSpPr/>
          <p:nvPr/>
        </p:nvSpPr>
        <p:spPr>
          <a:xfrm>
            <a:off x="5270937" y="3777591"/>
            <a:ext cx="3331780" cy="128226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EBCB35-A047-D45B-E319-BF3B513BEFD8}"/>
              </a:ext>
            </a:extLst>
          </p:cNvPr>
          <p:cNvSpPr/>
          <p:nvPr/>
        </p:nvSpPr>
        <p:spPr>
          <a:xfrm>
            <a:off x="3046246" y="3427245"/>
            <a:ext cx="1194677" cy="5377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FEC96-183E-F2ED-3F71-B8FAB59E762B}"/>
              </a:ext>
            </a:extLst>
          </p:cNvPr>
          <p:cNvSpPr/>
          <p:nvPr/>
        </p:nvSpPr>
        <p:spPr>
          <a:xfrm>
            <a:off x="3046248" y="2630212"/>
            <a:ext cx="1194676" cy="57281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25942B-C9F1-6462-88E7-256C849F317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c) 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91662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244</Words>
  <Application>Microsoft Office PowerPoint</Application>
  <PresentationFormat>Widescreen</PresentationFormat>
  <Paragraphs>63</Paragraphs>
  <Slides>21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3.1</vt:lpstr>
      <vt:lpstr>Aufgabe 3.1</vt:lpstr>
      <vt:lpstr>Aufgabe 3.1</vt:lpstr>
      <vt:lpstr>Aufgabe 3.1</vt:lpstr>
      <vt:lpstr>Aufgabe 3.2</vt:lpstr>
      <vt:lpstr>Aufgabe 3.2</vt:lpstr>
      <vt:lpstr>Aufgabe 4.1</vt:lpstr>
      <vt:lpstr>Aufgabe 4.2</vt:lpstr>
      <vt:lpstr>Aufgabe 4.2</vt:lpstr>
      <vt:lpstr>Aufgabe 4.2</vt:lpstr>
      <vt:lpstr>Aufgabe 4.2</vt:lpstr>
      <vt:lpstr>Aufgabe 4.2</vt:lpstr>
      <vt:lpstr>Aufgabe 4.3</vt:lpstr>
      <vt:lpstr>Aufgabe 5.1</vt:lpstr>
      <vt:lpstr>Aufgabe 5.1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439</cp:revision>
  <cp:lastPrinted>2023-11-29T22:31:04Z</cp:lastPrinted>
  <dcterms:created xsi:type="dcterms:W3CDTF">2012-05-03T09:32:35Z</dcterms:created>
  <dcterms:modified xsi:type="dcterms:W3CDTF">2026-02-09T10:33:40Z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