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33"/>
  </p:notesMasterIdLst>
  <p:handoutMasterIdLst>
    <p:handoutMasterId r:id="rId34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65" r:id="rId11"/>
    <p:sldId id="1050" r:id="rId12"/>
    <p:sldId id="1051" r:id="rId13"/>
    <p:sldId id="1052" r:id="rId14"/>
    <p:sldId id="1053" r:id="rId15"/>
    <p:sldId id="1063" r:id="rId16"/>
    <p:sldId id="1064" r:id="rId17"/>
    <p:sldId id="1066" r:id="rId18"/>
    <p:sldId id="1067" r:id="rId19"/>
    <p:sldId id="1068" r:id="rId20"/>
    <p:sldId id="1069" r:id="rId21"/>
    <p:sldId id="1054" r:id="rId22"/>
    <p:sldId id="1055" r:id="rId23"/>
    <p:sldId id="1071" r:id="rId24"/>
    <p:sldId id="1070" r:id="rId25"/>
    <p:sldId id="1056" r:id="rId26"/>
    <p:sldId id="1057" r:id="rId27"/>
    <p:sldId id="1058" r:id="rId28"/>
    <p:sldId id="1059" r:id="rId29"/>
    <p:sldId id="1060" r:id="rId30"/>
    <p:sldId id="1061" r:id="rId31"/>
    <p:sldId id="1062" r:id="rId32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65"/>
            <p14:sldId id="1050"/>
            <p14:sldId id="1051"/>
            <p14:sldId id="1052"/>
            <p14:sldId id="1053"/>
            <p14:sldId id="1063"/>
            <p14:sldId id="1064"/>
            <p14:sldId id="1066"/>
            <p14:sldId id="1067"/>
            <p14:sldId id="1068"/>
            <p14:sldId id="1069"/>
            <p14:sldId id="1054"/>
            <p14:sldId id="1055"/>
            <p14:sldId id="1071"/>
            <p14:sldId id="1070"/>
            <p14:sldId id="1056"/>
            <p14:sldId id="1057"/>
            <p14:sldId id="1058"/>
            <p14:sldId id="1059"/>
            <p14:sldId id="1060"/>
            <p14:sldId id="1061"/>
            <p14:sldId id="1062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E68480-3B10-9DDC-13A3-804E098ECB4E}" v="367" dt="2026-02-09T11:24:37.240"/>
    <p1510:client id="{4C0DE733-53BE-F9E9-255C-E232D43849EE}" v="166" dt="2026-02-09T12:09:28.159"/>
    <p1510:client id="{CDEA013C-0C4C-7CC9-3073-C215768A4D35}" v="422" dt="2026-02-08T21:59:01.042"/>
    <p1510:client id="{CF275D93-1AF9-5CD7-90BA-CB7126BBAC7F}" v="1388" dt="2026-02-09T11:07:37.102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2"/>
    <p:restoredTop sz="94651"/>
  </p:normalViewPr>
  <p:slideViewPr>
    <p:cSldViewPr snapToGrid="0">
      <p:cViewPr varScale="1">
        <p:scale>
          <a:sx n="105" d="100"/>
          <a:sy n="105" d="100"/>
        </p:scale>
        <p:origin x="63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5/10/relationships/revisionInfo" Target="revisionInfo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09.02.2026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de-DE" dirty="0"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F7245-299E-D607-92C5-0E28A3104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Ein Huntington’sches Axiom besagt (a ∧ b) ∨ a = a </a:t>
                </a:r>
                <a:r>
                  <a:rPr lang="de-DE" b="1" dirty="0"/>
                  <a:t>(Falsch</a:t>
                </a:r>
                <a:r>
                  <a:rPr lang="de-DE" dirty="0"/>
                  <a:t>, Absorptionsgesetz folgt aus HA ist aber kein HA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{¬, xor} ist ein vollständiges Operatorensystem </a:t>
                </a:r>
                <a:r>
                  <a:rPr lang="de-DE" b="1" dirty="0"/>
                  <a:t>(Falsch</a:t>
                </a:r>
                <a:r>
                  <a:rPr lang="de-DE" dirty="0"/>
                  <a:t>, geht nicht [siehe ÜB]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</m:e>
                    </m:acc>
                  </m:oMath>
                </a14:m>
                <a:r>
                  <a:rPr lang="de-DE" dirty="0"/>
                  <a:t>} ist ein vollst¨andiges Operatorensystem </a:t>
                </a:r>
                <a:r>
                  <a:rPr lang="de-DE" b="1" dirty="0"/>
                  <a:t>(Wahr</a:t>
                </a:r>
                <a:r>
                  <a:rPr lang="de-DE" dirty="0"/>
                  <a:t>, geht [siehe ÜB]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Der Term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de-DE" dirty="0"/>
                  <a:t>kommt in der DNF von ((a ∨ b) → c) vor </a:t>
                </a:r>
                <a:r>
                  <a:rPr lang="de-DE" b="1" dirty="0"/>
                  <a:t>(Falsch</a:t>
                </a:r>
                <a:r>
                  <a:rPr lang="de-DE" dirty="0"/>
                  <a:t>, (0, 1, 0) ist falsch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 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→</m:t>
                        </m:r>
                        <m:acc>
                          <m:accPr>
                            <m:chr m:val="̅"/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ist eine Tautologie </a:t>
                </a:r>
                <a:r>
                  <a:rPr lang="de-DE" b="1" dirty="0"/>
                  <a:t>(Wahr</a:t>
                </a:r>
                <a:r>
                  <a:rPr lang="de-DE" dirty="0"/>
                  <a:t>, Mit Term 1 haben wir alles außer (0, 1) mit Term 2 haben wir (0, 1) also immer wahr.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Erfüllen die boole’schen Ausdrücke A und B die gleiche logische Funktion, so gilt A xor B ist eine Kontradiktion </a:t>
                </a:r>
                <a:r>
                  <a:rPr lang="de-DE" b="1" dirty="0"/>
                  <a:t>(Wahr, </a:t>
                </a:r>
                <a:r>
                  <a:rPr lang="de-DE" dirty="0"/>
                  <a:t>beide Ausdrücke sind immer gleichzeitig wahr oder falsch</a:t>
                </a:r>
                <a:r>
                  <a:rPr lang="de-DE" b="1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 t="-1821" r="-7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41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0E80-5302-A39B-EC5C-BD4AD411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193CB-A82F-0CD1-8A45-A6C664A4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8A46F8-0AEB-C5EE-978A-F13D3155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5A8A79-AEF8-D90F-BBA7-8A5EB167A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1313" y="1371600"/>
            <a:ext cx="3524133" cy="4664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ECDB47-0156-01D2-EFC5-81FFA71FFAB3}"/>
              </a:ext>
            </a:extLst>
          </p:cNvPr>
          <p:cNvSpPr/>
          <p:nvPr/>
        </p:nvSpPr>
        <p:spPr>
          <a:xfrm>
            <a:off x="5465179" y="5740077"/>
            <a:ext cx="1647462" cy="38389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156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CA663-33F4-74DC-9DD7-5CA491C9C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0170B-C4AA-916D-E7B9-332B800A1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232D0B-C2A4-932A-5ED7-B687AA0E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3868E3-6AE2-948C-AF1B-7508F14682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148" y="2102915"/>
            <a:ext cx="2665553" cy="331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4EE5D4B-FCB5-2134-B91A-F90957D7DC1B}"/>
              </a:ext>
            </a:extLst>
          </p:cNvPr>
          <p:cNvSpPr/>
          <p:nvPr/>
        </p:nvSpPr>
        <p:spPr>
          <a:xfrm>
            <a:off x="4394521" y="5170989"/>
            <a:ext cx="3422247" cy="3935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8203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5204-CD83-734E-6066-7AA89FC95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CCA6B87-AB16-DB78-DC78-143E2F13695F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Der </a:t>
            </a:r>
            <a:r>
              <a:rPr lang="en-GB" kern="0" dirty="0" err="1">
                <a:cs typeface="Arial"/>
              </a:rPr>
              <a:t>nächste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ist</a:t>
            </a:r>
            <a:r>
              <a:rPr lang="en-GB" kern="0" dirty="0">
                <a:cs typeface="Arial"/>
              </a:rPr>
              <a:t> immer </a:t>
            </a:r>
            <a:r>
              <a:rPr lang="en-GB" kern="0" dirty="0" err="1">
                <a:cs typeface="Arial"/>
              </a:rPr>
              <a:t>nur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vom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aktuellen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abhängig</a:t>
            </a:r>
            <a:r>
              <a:rPr lang="en-GB" kern="0" dirty="0">
                <a:cs typeface="Arial"/>
              </a:rPr>
              <a:t>, es </a:t>
            </a:r>
            <a:r>
              <a:rPr lang="en-GB" kern="0" dirty="0" err="1">
                <a:cs typeface="Arial"/>
              </a:rPr>
              <a:t>gibt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keine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weitere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Abgabe</a:t>
            </a:r>
            <a:r>
              <a:rPr lang="en-GB" kern="0" dirty="0">
                <a:cs typeface="Arial"/>
              </a:rPr>
              <a:t>, die den </a:t>
            </a:r>
            <a:r>
              <a:rPr lang="en-GB" kern="0" dirty="0" err="1">
                <a:cs typeface="Arial"/>
              </a:rPr>
              <a:t>Folgezustand</a:t>
            </a:r>
            <a:r>
              <a:rPr lang="en-GB" kern="0" dirty="0">
                <a:cs typeface="Arial"/>
              </a:rPr>
              <a:t> mitbestimmt. Es handelt sich um </a:t>
            </a:r>
            <a:r>
              <a:rPr lang="en-GB" kern="0" dirty="0" err="1">
                <a:cs typeface="Arial"/>
              </a:rPr>
              <a:t>einen</a:t>
            </a:r>
            <a:r>
              <a:rPr lang="en-GB" kern="0" dirty="0">
                <a:cs typeface="Arial"/>
              </a:rPr>
              <a:t> Moore-</a:t>
            </a:r>
            <a:r>
              <a:rPr lang="en-GB" kern="0" dirty="0" err="1">
                <a:cs typeface="Arial"/>
              </a:rPr>
              <a:t>Automaten</a:t>
            </a:r>
            <a:r>
              <a:rPr lang="en-GB" kern="0" dirty="0">
                <a:cs typeface="Arial"/>
              </a:rPr>
              <a:t>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DDECA35-74C4-379C-0D79-D8F54A0C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3.3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9D2D660-2835-B464-8BDC-5C28B0DEA4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0619102"/>
              </p:ext>
            </p:extLst>
          </p:nvPr>
        </p:nvGraphicFramePr>
        <p:xfrm>
          <a:off x="1137574" y="1773238"/>
          <a:ext cx="10262350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436126279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0154431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53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02237-37F9-D029-1E56-77FCACBDB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EF4144-83FE-D457-97E1-B61475EA7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08197" r="-301775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204839" r="-301775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309836" r="-301775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409836" r="-301775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0C44031-AF89-BF1E-163C-37AC1252D92D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</a:t>
            </a:r>
          </a:p>
        </p:txBody>
      </p:sp>
      <p:pic>
        <p:nvPicPr>
          <p:cNvPr id="3" name="Picture 2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3A7E99C7-6E0A-4683-D2D4-3E7F0C49DA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2" b="2865"/>
          <a:stretch>
            <a:fillRect/>
          </a:stretch>
        </p:blipFill>
        <p:spPr>
          <a:xfrm>
            <a:off x="1204852" y="3859914"/>
            <a:ext cx="7303399" cy="240460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6987159-F5B3-C6EE-B62B-B801237B3206}"/>
              </a:ext>
            </a:extLst>
          </p:cNvPr>
          <p:cNvCxnSpPr/>
          <p:nvPr/>
        </p:nvCxnSpPr>
        <p:spPr>
          <a:xfrm>
            <a:off x="2354317" y="5660696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967F4F-A90E-57DE-982A-06871D8C7806}"/>
              </a:ext>
            </a:extLst>
          </p:cNvPr>
          <p:cNvCxnSpPr>
            <a:cxnSpLocks/>
          </p:cNvCxnSpPr>
          <p:nvPr/>
        </p:nvCxnSpPr>
        <p:spPr>
          <a:xfrm>
            <a:off x="2354316" y="5660695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84B683-F2FF-13E8-3F23-7A1E0FDB3A24}"/>
              </a:ext>
            </a:extLst>
          </p:cNvPr>
          <p:cNvCxnSpPr>
            <a:cxnSpLocks/>
          </p:cNvCxnSpPr>
          <p:nvPr/>
        </p:nvCxnSpPr>
        <p:spPr>
          <a:xfrm>
            <a:off x="2354315" y="5660694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67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4C01B-1956-2803-870D-E2619DF26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E8B59C8-011E-9897-4876-21813176E173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</a:t>
            </a:r>
            <a:r>
              <a:rPr lang="en-GB" kern="0" dirty="0" err="1">
                <a:cs typeface="Arial"/>
              </a:rPr>
              <a:t>Multiplikation</a:t>
            </a:r>
            <a:r>
              <a:rPr lang="en-GB" kern="0" dirty="0">
                <a:cs typeface="Arial"/>
              </a:rPr>
              <a:t> von a und b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B4FE34C-1DB5-CD4A-2F53-AAE6F817A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3.5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56C89CC8-7341-8CA5-9473-31D1970DA5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1080033"/>
              </p:ext>
            </p:extLst>
          </p:nvPr>
        </p:nvGraphicFramePr>
        <p:xfrm>
          <a:off x="1137574" y="1773238"/>
          <a:ext cx="8209880" cy="296671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Takt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0469344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074299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257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792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8912-4707-1A32-6F1E-3AD0C720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6FCF2E-2964-6BFB-3110-707EF9340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3.6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B4AB020F-E3DF-FA63-98A8-8A0F77523BD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Ein </a:t>
            </a:r>
            <a:r>
              <a:rPr lang="en-GB" kern="0" dirty="0" err="1">
                <a:cs typeface="Arial"/>
              </a:rPr>
              <a:t>Schaltwerk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enthält</a:t>
            </a:r>
            <a:r>
              <a:rPr lang="en-GB" kern="0" dirty="0">
                <a:cs typeface="Arial"/>
              </a:rPr>
              <a:t> </a:t>
            </a:r>
            <a:r>
              <a:rPr lang="en-GB" kern="0" dirty="0" err="1">
                <a:cs typeface="Arial"/>
              </a:rPr>
              <a:t>speichernde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Elemente</a:t>
            </a:r>
            <a:r>
              <a:rPr lang="en-GB" kern="0" dirty="0">
                <a:cs typeface="Arial"/>
              </a:rPr>
              <a:t>, </a:t>
            </a:r>
            <a:r>
              <a:rPr lang="en-GB" kern="0" dirty="0" err="1">
                <a:cs typeface="Arial"/>
              </a:rPr>
              <a:t>ein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Schaltnetz</a:t>
            </a:r>
            <a:r>
              <a:rPr lang="en-GB" kern="0" dirty="0">
                <a:cs typeface="Arial"/>
              </a:rPr>
              <a:t> nicht.</a:t>
            </a:r>
          </a:p>
        </p:txBody>
      </p:sp>
      <p:pic>
        <p:nvPicPr>
          <p:cNvPr id="7" name="Content Placeholder 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B5993DE-0DC0-824E-E302-41A3B053B5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044148" y="1771267"/>
            <a:ext cx="10243594" cy="2787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34620C-1B13-B232-5CE7-63E7A071D0AB}"/>
              </a:ext>
            </a:extLst>
          </p:cNvPr>
          <p:cNvCxnSpPr/>
          <p:nvPr/>
        </p:nvCxnSpPr>
        <p:spPr>
          <a:xfrm>
            <a:off x="10664141" y="3020027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102F20-482B-0C13-2BD6-4C6F440ADE50}"/>
              </a:ext>
            </a:extLst>
          </p:cNvPr>
          <p:cNvCxnSpPr>
            <a:cxnSpLocks/>
          </p:cNvCxnSpPr>
          <p:nvPr/>
        </p:nvCxnSpPr>
        <p:spPr>
          <a:xfrm>
            <a:off x="10664140" y="3020026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6EC7A4D-654C-5F91-7B27-131E237A7F23}"/>
              </a:ext>
            </a:extLst>
          </p:cNvPr>
          <p:cNvCxnSpPr>
            <a:cxnSpLocks/>
          </p:cNvCxnSpPr>
          <p:nvPr/>
        </p:nvCxnSpPr>
        <p:spPr>
          <a:xfrm>
            <a:off x="9680292" y="414855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AB9C05-EA17-7D14-3C5F-DE43382E3F3D}"/>
              </a:ext>
            </a:extLst>
          </p:cNvPr>
          <p:cNvCxnSpPr>
            <a:cxnSpLocks/>
          </p:cNvCxnSpPr>
          <p:nvPr/>
        </p:nvCxnSpPr>
        <p:spPr>
          <a:xfrm>
            <a:off x="9680291" y="4148557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EA93225-1E2B-2F8D-216A-86B145F572EF}"/>
              </a:ext>
            </a:extLst>
          </p:cNvPr>
          <p:cNvCxnSpPr>
            <a:cxnSpLocks/>
          </p:cNvCxnSpPr>
          <p:nvPr/>
        </p:nvCxnSpPr>
        <p:spPr>
          <a:xfrm>
            <a:off x="9689937" y="4166074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640EC77-637D-C75C-9A1F-BA4C78CD868C}"/>
              </a:ext>
            </a:extLst>
          </p:cNvPr>
          <p:cNvCxnSpPr>
            <a:cxnSpLocks/>
          </p:cNvCxnSpPr>
          <p:nvPr/>
        </p:nvCxnSpPr>
        <p:spPr>
          <a:xfrm>
            <a:off x="9680293" y="260526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5AB642-FE67-0439-10C6-67DEEF212943}"/>
              </a:ext>
            </a:extLst>
          </p:cNvPr>
          <p:cNvCxnSpPr>
            <a:cxnSpLocks/>
          </p:cNvCxnSpPr>
          <p:nvPr/>
        </p:nvCxnSpPr>
        <p:spPr>
          <a:xfrm>
            <a:off x="9682067" y="2604380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6645936-35EB-D721-7349-53CFDFFF0507}"/>
              </a:ext>
            </a:extLst>
          </p:cNvPr>
          <p:cNvCxnSpPr>
            <a:cxnSpLocks/>
          </p:cNvCxnSpPr>
          <p:nvPr/>
        </p:nvCxnSpPr>
        <p:spPr>
          <a:xfrm>
            <a:off x="10664139" y="3440439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CB32485-5D40-1F31-76B8-448958D53626}"/>
              </a:ext>
            </a:extLst>
          </p:cNvPr>
          <p:cNvCxnSpPr>
            <a:cxnSpLocks/>
          </p:cNvCxnSpPr>
          <p:nvPr/>
        </p:nvCxnSpPr>
        <p:spPr>
          <a:xfrm>
            <a:off x="10664138" y="344043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071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3.7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4" name="Picture 3" descr="A diagram of a grid&#10;&#10;AI-generated content may be incorrect.">
            <a:extLst>
              <a:ext uri="{FF2B5EF4-FFF2-40B4-BE49-F238E27FC236}">
                <a16:creationId xmlns:a16="http://schemas.microsoft.com/office/drawing/2014/main" id="{01F95633-012E-99E4-A9E6-C7407ACB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078" y="1776796"/>
            <a:ext cx="4972050" cy="40576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553FE32-D25C-80D2-5009-8889EA74E663}"/>
              </a:ext>
            </a:extLst>
          </p:cNvPr>
          <p:cNvSpPr/>
          <p:nvPr/>
        </p:nvSpPr>
        <p:spPr>
          <a:xfrm>
            <a:off x="5332248" y="3050627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DA4AFC-6670-6454-B897-47E79E7EAD3E}"/>
              </a:ext>
            </a:extLst>
          </p:cNvPr>
          <p:cNvSpPr/>
          <p:nvPr/>
        </p:nvSpPr>
        <p:spPr>
          <a:xfrm>
            <a:off x="5954109" y="3050626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17D7CC-1CBC-BC41-8283-AA123DCF9E38}"/>
              </a:ext>
            </a:extLst>
          </p:cNvPr>
          <p:cNvSpPr/>
          <p:nvPr/>
        </p:nvSpPr>
        <p:spPr>
          <a:xfrm>
            <a:off x="6575970" y="3672487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AF5D9-8DC3-D00A-3C72-DF29993894D7}"/>
              </a:ext>
            </a:extLst>
          </p:cNvPr>
          <p:cNvSpPr/>
          <p:nvPr/>
        </p:nvSpPr>
        <p:spPr>
          <a:xfrm>
            <a:off x="6575969" y="4294348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F61AFC-8174-01FC-D31D-A34960AF5F00}"/>
              </a:ext>
            </a:extLst>
          </p:cNvPr>
          <p:cNvSpPr/>
          <p:nvPr/>
        </p:nvSpPr>
        <p:spPr>
          <a:xfrm>
            <a:off x="5332245" y="4924968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9399B-7124-48BB-C7F7-0447B50B36EA}"/>
              </a:ext>
            </a:extLst>
          </p:cNvPr>
          <p:cNvSpPr/>
          <p:nvPr/>
        </p:nvSpPr>
        <p:spPr>
          <a:xfrm>
            <a:off x="5954106" y="4916209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ACC5A9-E19F-374D-EA4B-B436121AA008}"/>
              </a:ext>
            </a:extLst>
          </p:cNvPr>
          <p:cNvSpPr/>
          <p:nvPr/>
        </p:nvSpPr>
        <p:spPr>
          <a:xfrm>
            <a:off x="4710382" y="3672484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C511BB-DA7A-5446-526E-D4F01DE9D95C}"/>
              </a:ext>
            </a:extLst>
          </p:cNvPr>
          <p:cNvSpPr/>
          <p:nvPr/>
        </p:nvSpPr>
        <p:spPr>
          <a:xfrm>
            <a:off x="4710381" y="4294346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D3CC-2816-9E0B-FCD9-13464E255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0705A3-AB8C-DE02-3D93-D0D2B6591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3.7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B9FE27-A2D3-0528-14C1-92B796071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15" name="Picture 1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2CE87F01-6937-0C21-D3DD-8C0FA667E9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" b="1647"/>
          <a:stretch>
            <a:fillRect/>
          </a:stretch>
        </p:blipFill>
        <p:spPr>
          <a:xfrm>
            <a:off x="1043828" y="1859705"/>
            <a:ext cx="10668000" cy="380364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D05524C-1A62-8431-AB7E-AE594531D225}"/>
              </a:ext>
            </a:extLst>
          </p:cNvPr>
          <p:cNvSpPr txBox="1"/>
          <p:nvPr/>
        </p:nvSpPr>
        <p:spPr>
          <a:xfrm>
            <a:off x="4147594" y="3173392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F7A1D5-16DC-B37C-C635-7C82D37D665C}"/>
              </a:ext>
            </a:extLst>
          </p:cNvPr>
          <p:cNvSpPr txBox="1"/>
          <p:nvPr/>
        </p:nvSpPr>
        <p:spPr>
          <a:xfrm>
            <a:off x="8931796" y="3173391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DE88BE-38A8-CB65-F954-E576AA464FE0}"/>
              </a:ext>
            </a:extLst>
          </p:cNvPr>
          <p:cNvSpPr txBox="1"/>
          <p:nvPr/>
        </p:nvSpPr>
        <p:spPr>
          <a:xfrm>
            <a:off x="10012099" y="3173390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091E4F-EC43-08E3-6828-C6A45FBBCFFF}"/>
              </a:ext>
            </a:extLst>
          </p:cNvPr>
          <p:cNvSpPr txBox="1"/>
          <p:nvPr/>
        </p:nvSpPr>
        <p:spPr>
          <a:xfrm>
            <a:off x="10880200" y="4764909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983CBF-02FE-1936-B604-59FC5A24ECFF}"/>
              </a:ext>
            </a:extLst>
          </p:cNvPr>
          <p:cNvSpPr txBox="1"/>
          <p:nvPr/>
        </p:nvSpPr>
        <p:spPr>
          <a:xfrm>
            <a:off x="4147592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9AA9DA-ED4D-94F3-AC40-D0FBD476C025}"/>
              </a:ext>
            </a:extLst>
          </p:cNvPr>
          <p:cNvSpPr txBox="1"/>
          <p:nvPr/>
        </p:nvSpPr>
        <p:spPr>
          <a:xfrm>
            <a:off x="7890073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EBD727-531B-A642-5EE3-DB9BEFA66D4C}"/>
              </a:ext>
            </a:extLst>
          </p:cNvPr>
          <p:cNvSpPr txBox="1"/>
          <p:nvPr/>
        </p:nvSpPr>
        <p:spPr>
          <a:xfrm>
            <a:off x="10880199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5C9599-A282-1268-36BB-4F413CB96FF3}"/>
              </a:ext>
            </a:extLst>
          </p:cNvPr>
          <p:cNvSpPr txBox="1"/>
          <p:nvPr/>
        </p:nvSpPr>
        <p:spPr>
          <a:xfrm>
            <a:off x="3202326" y="4764908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 dirty="0">
                <a:latin typeface="Arial"/>
                <a:cs typeface="Arial"/>
              </a:rPr>
              <a:t>X</a:t>
            </a:r>
            <a:endParaRPr lang="en-GB" sz="4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79613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7467C-543D-1233-B796-516A6E5B9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02FA69-4E4F-C9F4-D744-DC9720498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F0A2E6-2043-3F44-4FAF-454862755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 dirty="0">
                <a:cs typeface="Arial"/>
              </a:rPr>
              <a:t>6 Knoten und 10 </a:t>
            </a:r>
            <a:r>
              <a:rPr lang="en-GB" dirty="0" err="1">
                <a:cs typeface="Arial"/>
              </a:rPr>
              <a:t>Zweige</a:t>
            </a:r>
            <a:r>
              <a:rPr lang="en-GB" dirty="0">
                <a:cs typeface="Arial"/>
              </a:rPr>
              <a:t>: </a:t>
            </a:r>
            <a:endParaRPr lang="en-US" dirty="0"/>
          </a:p>
          <a:p>
            <a:pPr marL="0" indent="0">
              <a:buNone/>
            </a:pPr>
            <a:r>
              <a:rPr lang="en-GB" dirty="0">
                <a:cs typeface="Arial"/>
              </a:rPr>
              <a:t>    m = z - (k-1) = 10 – 5 = 5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Maschengleichungen</a:t>
            </a: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0CA1B3B7-9633-10E4-4B65-E50F4E22C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621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c)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d)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e) k-1 = 6-1 = 5 linear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4065C672-6B47-4234-1C45-B8E3F418649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2460961"/>
              </p:ext>
            </p:extLst>
          </p:nvPr>
        </p:nvGraphicFramePr>
        <p:xfrm>
          <a:off x="2574764" y="1908276"/>
          <a:ext cx="7053792" cy="2748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26896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3526896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Größe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Verhalten A oder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i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i</a:t>
                      </a:r>
                      <a:r>
                        <a:rPr lang="de-DE" sz="1100" dirty="0"/>
                        <a:t>1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L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i</a:t>
                      </a:r>
                      <a:r>
                        <a:rPr lang="de-DE" sz="1100" dirty="0"/>
                        <a:t>L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844427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580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4D45B-C504-0453-945E-CE4933B66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7B8576D-3F6E-9269-1C5C-769B7A9B0A61}"/>
              </a:ext>
            </a:extLst>
          </p:cNvPr>
          <p:cNvSpPr txBox="1">
            <a:spLocks/>
          </p:cNvSpPr>
          <p:nvPr/>
        </p:nvSpPr>
        <p:spPr bwMode="auto">
          <a:xfrm>
            <a:off x="962400" y="1771310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GB" kern="0" dirty="0">
                <a:cs typeface="Arial"/>
              </a:rPr>
              <a:t>a) CMOS, da die </a:t>
            </a:r>
            <a:r>
              <a:rPr lang="en-GB" kern="0" dirty="0" err="1">
                <a:cs typeface="Arial"/>
              </a:rPr>
              <a:t>Schaltung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aus</a:t>
            </a:r>
            <a:r>
              <a:rPr lang="en-GB" kern="0" dirty="0">
                <a:cs typeface="Arial"/>
              </a:rPr>
              <a:t> PMOS und NMOS </a:t>
            </a:r>
            <a:r>
              <a:rPr lang="en-GB" kern="0" dirty="0" err="1">
                <a:cs typeface="Arial"/>
              </a:rPr>
              <a:t>besteht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b)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C8DD80C-4601-6D09-8BE0-BB9C4C14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34EE9-B2BA-7DB2-7FDF-19C1B2518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61B2-EF98-0CC3-6506-4CCE4C63CC8C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1ABF4556-9B27-183D-CCBA-1BED8863B5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74995"/>
              </p:ext>
            </p:extLst>
          </p:nvPr>
        </p:nvGraphicFramePr>
        <p:xfrm>
          <a:off x="2121423" y="2438783"/>
          <a:ext cx="3009415" cy="18796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925974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974201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109240">
                  <a:extLst>
                    <a:ext uri="{9D8B030D-6E8A-4147-A177-3AD203B41FA5}">
                      <a16:colId xmlns:a16="http://schemas.microsoft.com/office/drawing/2014/main" val="39198965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0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119FA2A9-6B99-4BE1-C7ED-0D5639B8A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4" r="-752" b="11667"/>
          <a:stretch>
            <a:fillRect/>
          </a:stretch>
        </p:blipFill>
        <p:spPr>
          <a:xfrm>
            <a:off x="5983568" y="2438783"/>
            <a:ext cx="1295543" cy="50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F489-DAE4-DE09-DB09-90B9546E1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F55D7-EEAD-70BD-EC81-73FF06DA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pic>
        <p:nvPicPr>
          <p:cNvPr id="8" name="Content Placeholder 7" descr="A diagram of a computer circuit&#10;&#10;AI-generated content may be incorrect.">
            <a:extLst>
              <a:ext uri="{FF2B5EF4-FFF2-40B4-BE49-F238E27FC236}">
                <a16:creationId xmlns:a16="http://schemas.microsoft.com/office/drawing/2014/main" id="{1C5F5E8C-7205-0A40-8C73-9A71EA0BB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115028" y="1842055"/>
            <a:ext cx="7225862" cy="3724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FCD34C2-9610-37F2-ED4A-13C88E8A6DF2}"/>
              </a:ext>
            </a:extLst>
          </p:cNvPr>
          <p:cNvSpPr/>
          <p:nvPr/>
        </p:nvSpPr>
        <p:spPr>
          <a:xfrm>
            <a:off x="4666593" y="2507593"/>
            <a:ext cx="4006193" cy="102826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E80AD-6DD8-19A8-5C74-2FC2DF8D263B}"/>
              </a:ext>
            </a:extLst>
          </p:cNvPr>
          <p:cNvSpPr/>
          <p:nvPr/>
        </p:nvSpPr>
        <p:spPr>
          <a:xfrm>
            <a:off x="5270937" y="3777591"/>
            <a:ext cx="3331780" cy="128226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EBCB35-A047-D45B-E319-BF3B513BEFD8}"/>
              </a:ext>
            </a:extLst>
          </p:cNvPr>
          <p:cNvSpPr/>
          <p:nvPr/>
        </p:nvSpPr>
        <p:spPr>
          <a:xfrm>
            <a:off x="3046246" y="3427245"/>
            <a:ext cx="1194677" cy="5377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FEC96-183E-F2ED-3F71-B8FAB59E762B}"/>
              </a:ext>
            </a:extLst>
          </p:cNvPr>
          <p:cNvSpPr/>
          <p:nvPr/>
        </p:nvSpPr>
        <p:spPr>
          <a:xfrm>
            <a:off x="3046248" y="2630212"/>
            <a:ext cx="1194676" cy="57281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25942B-C9F1-6462-88E7-256C849F317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c) 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91662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785</Words>
  <Application>Microsoft Office PowerPoint</Application>
  <PresentationFormat>Widescreen</PresentationFormat>
  <Paragraphs>338</Paragraphs>
  <Slides>28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2.2</vt:lpstr>
      <vt:lpstr>Aufgabe 3.1</vt:lpstr>
      <vt:lpstr>Aufgabe 3.1</vt:lpstr>
      <vt:lpstr>Aufgabe 3.1</vt:lpstr>
      <vt:lpstr>Aufgabe 3.1</vt:lpstr>
      <vt:lpstr>Aufgabe 3.2</vt:lpstr>
      <vt:lpstr>Aufgabe 3.2</vt:lpstr>
      <vt:lpstr>Aufgabe 3.3</vt:lpstr>
      <vt:lpstr>Aufgabe 3.4</vt:lpstr>
      <vt:lpstr>Aufgabe 3.5</vt:lpstr>
      <vt:lpstr>Aufgabe 3.6</vt:lpstr>
      <vt:lpstr>Aufgabe 4.1</vt:lpstr>
      <vt:lpstr>Aufgabe 3.7</vt:lpstr>
      <vt:lpstr>Aufgabe 3.7</vt:lpstr>
      <vt:lpstr>Aufgabe 4.2</vt:lpstr>
      <vt:lpstr>Aufgabe 4.2</vt:lpstr>
      <vt:lpstr>Aufgabe 4.2</vt:lpstr>
      <vt:lpstr>Aufgabe 4.2</vt:lpstr>
      <vt:lpstr>Aufgabe 4.2</vt:lpstr>
      <vt:lpstr>Aufgabe 4.3</vt:lpstr>
      <vt:lpstr>Aufgabe 5.1</vt:lpstr>
      <vt:lpstr>Aufgabe 5.1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670</cp:revision>
  <cp:lastPrinted>2023-11-29T22:31:04Z</cp:lastPrinted>
  <dcterms:created xsi:type="dcterms:W3CDTF">2012-05-03T09:32:35Z</dcterms:created>
  <dcterms:modified xsi:type="dcterms:W3CDTF">2026-02-09T12:10:40Z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